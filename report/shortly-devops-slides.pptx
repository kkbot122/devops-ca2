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8bfb7da0b6416b" /><Relationship Type="http://schemas.openxmlformats.org/officeDocument/2006/relationships/extended-properties" Target="/docProps/app.xml" Id="Ra34bf0df282c413e" /><Relationship Type="http://schemas.openxmlformats.org/officeDocument/2006/relationships/officeDocument" Target="/ppt/presentation.xml" Id="R55726c1d52f24bf0" /></Relationships>
</file>

<file path=ppt/presentation.xml><?xml version="1.0" encoding="utf-8"?>
<p:presentation xmlns:p="http://schemas.openxmlformats.org/presentationml/2006/main">
  <p:sldMasterIdLst>
    <p:sldMasterId xmlns:r="http://schemas.openxmlformats.org/officeDocument/2006/relationships" id="2147483648" r:id="Rcc2ee08eec2b444f"/>
  </p:sldMasterIdLst>
  <p:notesMasterIdLst>
    <p:notesMasterId xmlns:r="http://schemas.openxmlformats.org/officeDocument/2006/relationships" r:id="R03b0df72f8de4c23"/>
  </p:notesMasterIdLst>
  <p:sldIdLst>
    <p:sldId xmlns:r="http://schemas.openxmlformats.org/officeDocument/2006/relationships" id="256" r:id="R321247b989b44083"/>
    <p:sldId xmlns:r="http://schemas.openxmlformats.org/officeDocument/2006/relationships" id="257" r:id="R26f9c3dd4b1a48e4"/>
    <p:sldId xmlns:r="http://schemas.openxmlformats.org/officeDocument/2006/relationships" id="258" r:id="R607f29e7c18f4a18"/>
    <p:sldId xmlns:r="http://schemas.openxmlformats.org/officeDocument/2006/relationships" id="259" r:id="R16dfa9a1044149f4"/>
    <p:sldId xmlns:r="http://schemas.openxmlformats.org/officeDocument/2006/relationships" id="260" r:id="R5ab899ea25644441"/>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e16cd71a81140c5" /><Relationship Type="http://schemas.openxmlformats.org/officeDocument/2006/relationships/slideMaster" Target="/ppt/slideMasters/slideMaster1.xml" Id="Rcc2ee08eec2b444f" /><Relationship Type="http://schemas.openxmlformats.org/officeDocument/2006/relationships/notesMaster" Target="/ppt/notesMasters/notesMaster1.xml" Id="R03b0df72f8de4c23" /><Relationship Type="http://schemas.openxmlformats.org/officeDocument/2006/relationships/presProps" Target="/ppt/presProps.xml" Id="R951e6581f1c84fd2" /><Relationship Type="http://schemas.openxmlformats.org/officeDocument/2006/relationships/viewProps" Target="/ppt/viewProps.xml" Id="R8db12d5b79c140c7" /><Relationship Type="http://schemas.openxmlformats.org/officeDocument/2006/relationships/tableStyles" Target="/ppt/tableStyles.xml" Id="R4598c9966f44455b" /><Relationship Type="http://schemas.openxmlformats.org/officeDocument/2006/relationships/slide" Target="/ppt/slides/slide1.xml" Id="R321247b989b44083" /><Relationship Type="http://schemas.openxmlformats.org/officeDocument/2006/relationships/slide" Target="/ppt/slides/slide2.xml" Id="R26f9c3dd4b1a48e4" /><Relationship Type="http://schemas.openxmlformats.org/officeDocument/2006/relationships/slide" Target="/ppt/slides/slide3.xml" Id="R607f29e7c18f4a18" /><Relationship Type="http://schemas.openxmlformats.org/officeDocument/2006/relationships/slide" Target="/ppt/slides/slide4.xml" Id="R16dfa9a1044149f4" /><Relationship Type="http://schemas.openxmlformats.org/officeDocument/2006/relationships/slide" Target="/ppt/slides/slide5.xml" Id="R5ab899ea256444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1257fcabe74b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ba835921dd4932" /><Relationship Type="http://schemas.openxmlformats.org/officeDocument/2006/relationships/notesMaster" Target="/ppt/notesMasters/notesMaster1.xml" Id="R5392e999388041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2e47bace8a4c32" /><Relationship Type="http://schemas.openxmlformats.org/officeDocument/2006/relationships/notesMaster" Target="/ppt/notesMasters/notesMaster1.xml" Id="R28fbbef0f17446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7475929f774446" /><Relationship Type="http://schemas.openxmlformats.org/officeDocument/2006/relationships/notesMaster" Target="/ppt/notesMasters/notesMaster1.xml" Id="R644fc2304b4e4d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baf797372a45ca" /><Relationship Type="http://schemas.openxmlformats.org/officeDocument/2006/relationships/notesMaster" Target="/ppt/notesMasters/notesMaster1.xml" Id="R7ea4235d95c34e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53a8546d864183" /><Relationship Type="http://schemas.openxmlformats.org/officeDocument/2006/relationships/notesMaster" Target="/ppt/notesMasters/notesMaster1.xml" Id="R2570703344384f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Shortly is a small FastAPI URL shortener. A request enters through the local nginx Ingress, passes through a Kubernetes Service, and can reach either API pod. The API pods keep no link state locally; Redis stores links, click counts, rate limits, recent links, and shared demo controls. Redis writes use an append-only file on a persistent volume, although this project runs only one Redis replica. The HPA keeps at least two and can scale to five pods, while the PDB asks Kubernetes to keep one available during disruptions. Liveness checks whether the process is alive; readiness also checks Redis. Prometheus scrapes the service through a ServiceMonitor, Grafana displays the metrics, and Alertmanager evaluates the rules. GitHub Actions builds and scans releases, while Ansible configures the supported runner host. Point at the path from User through Ingress to Redis, then at the monitoring band and the two automation boxes.</a:t>
            </a:r>
          </a:p>
          <a:p xmlns:a="http://schemas.openxmlformats.org/drawingml/2006/main">
            <a:r>
              <a:t>Group: Harsh Ledwani (23070122100)  |  Shivam Kapure (23070122113)  |  Kashyup Gaud (23070122114)  |  Kisna Kanti (23070122116)</a:t>
            </a:r>
          </a:p>
          <a:p xmlns:a="http://schemas.openxmlformats.org/drawingml/2006/main">
            <a:r>
              <a:t>Current verification: docs/evidence/CURRENT-STATUS.md. Windows source-demo rollouts change the pod-template configuration; the regular deployment uses Dockerfile-built images. Historical scenario results are explicitly identified.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workflow separates hosted checks from deployment to the local cluster. Lint and tests run in parallel. A successful build is scanned by Trivy and produces a CycloneDX software bill of materials; only then is the image pushed to GHCR. The self-hosted runner runs only on trusted main-branch release events, not pull requests. Before changing the cluster it checks the context and prerequisites, then pulls the image and verifies that its digest matches the hosted build. It loads that exact image, applies the CI overlay, waits for rollout probes, and verifies smoke requests and release version. A failure triggers automatic rollback, but the workflow remains red so the bad release is visible. The runbook estimates a typical pipeline takes seven to fifteen minutes; that is a documented estimate, not a measurement from GitHub history. Point from lint and tests through GHCR to preflight and digest verification, then show the success and rollback branches.</a:t>
            </a:r>
          </a:p>
          <a:p xmlns:a="http://schemas.openxmlformats.org/drawingml/2006/main">
            <a:r>
              <a:t>Group: Harsh Ledwani (23070122100)  |  Shivam Kapure (23070122113)  |  Kashyup Gaud (23070122114)  |  Kisna Kanti (23070122116)</a:t>
            </a:r>
          </a:p>
          <a:p xmlns:a="http://schemas.openxmlformats.org/drawingml/2006/main">
            <a:r>
              <a:t>Current verification: docs/evidence/CURRENT-STATUS.md. Windows source-demo rollouts change the pod-template configuration; the regular deployment uses Dockerfile-built images. Historical scenario results are explicitly identified.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evidence slots, not simulated screenshots. The repository had no actual UI images when this deck was built, so the frames are pending and should be replaced only with real captures. The numbers come from saved results. The original full scenario run lasted 55.7 minutes and recorded eight passes and one failure: abuse. A later focused abuse rerun passed with 6,309 requests and no unexpected failures, but the complete suite was not rerun, so we should not claim nine out of nine for the full run. Baseline recorded 3,753 requests and zero unexpected failures. The surge test reached three replicas from a baseline of two and returned to two. The Ansible second application in the Ubuntu container changed zero items. Point at the four evidence types, then at the result line and explain the full-suite caveat.</a:t>
            </a:r>
          </a:p>
          <a:p xmlns:a="http://schemas.openxmlformats.org/drawingml/2006/main">
            <a:r>
              <a:t>Group: Harsh Ledwani (23070122100)  |  Shivam Kapure (23070122113)  |  Kashyup Gaud (23070122114)  |  Kisna Kanti (23070122116)</a:t>
            </a:r>
          </a:p>
          <a:p xmlns:a="http://schemas.openxmlformats.org/drawingml/2006/main">
            <a:r>
              <a:t>Current verification: docs/evidence/CURRENT-STATUS.md. Windows source-demo rollouts change the pod-template configuration; the regular deployment uses Dockerfile-built images. Historical scenario results are explicitly identified.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challenge is that Kubernetes readiness can stay green while an application returns errors on ordinary requests. The bad-release scenario showed this: the pods were Ready, the error alert fired, and rollback restored version one. The second challenge was packaging the Kubernetes deployment. The nested Kustomize overlay could not safely refer to its parent directory, so the deploy script generates a temporary sibling overlay, renders it, and applies the full result together. Third, Grafana was OOM-killed at two lower memory limits, so chart values were raised to 512 MiB. Fourth, Redis outage handling needed readiness to fall without restarting the API; the scenario confirmed zero app restarts and link recovery. Finally, the macOS machine was deliberately rejected by the Ubuntu/Debian-only Ansible playbook; positive proof came from Ubuntu 24.04. Point at each problem-to-cause-to-fix line and tie it to its result or commit.</a:t>
            </a:r>
          </a:p>
          <a:p xmlns:a="http://schemas.openxmlformats.org/drawingml/2006/main">
            <a:r>
              <a:t>Group: Harsh Ledwani (23070122100)  |  Shivam Kapure (23070122113)  |  Kashyup Gaud (23070122114)  |  Kisna Kanti (23070122116)</a:t>
            </a:r>
          </a:p>
          <a:p xmlns:a="http://schemas.openxmlformats.org/drawingml/2006/main">
            <a:r>
              <a:t>Current verification: docs/evidence/CURRENT-STATUS.md. Windows source-demo rollouts change the pod-template configuration; the regular deployment uses Dockerfile-built images. Historical scenario results are explicitly identified.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taught us to verify what users experience, not only whether containers are running. In the silent error release, probes passed but a request-error alert caught the fault. For Kubernetes packaging, deployment tooling should render exactly the set it will apply. Resource limits need evidence because Grafana restarted under two lower limits. Readiness should reflect dependency availability, while liveness should avoid restarting an API process that can recover when Redis returns. Ansible results belong to the supported OS: the Mac was refused safely, and the positive run used Ubuntu 24.04. Next I would use a multi-node cloud cluster, base alerts on service objectives, route alerts to a real receiver, and isolate the self-hosted runner. Point at the challenge numbers beside each lesson, then the future-work box.</a:t>
            </a:r>
          </a:p>
          <a:p xmlns:a="http://schemas.openxmlformats.org/drawingml/2006/main">
            <a:r>
              <a:t>Group: Harsh Ledwani (23070122100)  |  Shivam Kapure (23070122113)  |  Kashyup Gaud (23070122114)  |  Kisna Kanti (23070122116)</a:t>
            </a:r>
          </a:p>
          <a:p xmlns:a="http://schemas.openxmlformats.org/drawingml/2006/main">
            <a:r>
              <a:t>Current verification: docs/evidence/CURRENT-STATUS.md. Windows source-demo rollouts change the pod-template configuration; the regular deployment uses Dockerfile-built images. Historical scenario results are explicitly identified.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ab54cf087546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ae8a0552b74e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719f0adac148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ba5d4061e548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05a662ae5d48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6c520f8773451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2baf0f0b571497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3c3ff144a064d0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620922a509447d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4089d710a8f42d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5db09ad99bf4b8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132E03-A355-46C1-A444-9F96782806B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4333B0F-E189-40EC-B066-C26999F6DF5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D66DA58-1EB4-40C6-B589-F00FDED3DF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A960B1B-91F3-405D-8FC6-9A00379969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EAFF101-B869-4D5C-8C7D-B151D3ED51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B70688-017B-491D-B90D-E14021ED8E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0DCFC2C-B9A6-48E8-A844-9A3CDAF74C7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1CBE640-A227-4178-9573-DA46C937C2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7822828-2358-40E3-8B5E-6D5BFA1637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D39B81-BA66-47BC-A14E-6421D8C41E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3A03D4-3F48-4B54-9AA5-88BDDF5AD44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DE2A30C-89AE-4D9B-9E84-BD7372F4D86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69317F1-B601-4C4D-B14C-C5B01D6D6F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474ECCD-BBA9-4171-8C5A-4BF5C2DB1C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8BC94DB-F961-4265-800A-6A0804CEFA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1EDDB2-1BC9-4A0F-B35F-22E6FC2FAD9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EABE259-ABE8-470D-A764-F0B3A050C7B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C92B437-52DA-41C8-80FF-0AE3A7A2459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7333DDC-385D-478F-9D73-FFE19784CD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3F8189C-12DD-48EA-9D68-C53BC7D4E7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1657DD7-F89C-4DCA-B4A5-554CDB2B23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A01C90-2ED1-4855-99A8-EFCBAD8AEF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C1BD15A-3978-4ECF-99D8-561B55156AF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DFE08A-B07C-43D6-B3CB-00273A21A4B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F5480E2-C7AD-4919-B13A-B1FD1DDA795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52610D5-B436-4095-BEB4-7E3190A9D0DF}"/>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30CE4DE-6524-49A3-99A3-9A73E93350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D773A822-F7E1-4F37-BF9D-AD8CA013EA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551550D-6054-417B-98F6-8FA03CFB5A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8F0668-175D-4E80-83E3-4DBE16DF83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46B8679-5665-4489-B868-FFA7B51ECD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FFE40F44-6521-4987-9BBE-1649BC73DC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08715473-8DF5-45A0-A980-B46C50DF67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33B2630-3B64-4D40-AA4A-5C6137E996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958F1C5-4E48-48B7-AF4E-8D2F9F4C09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D693275-D334-4047-A926-1C76ADF1C9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E05284-8470-45C4-A338-3F102460587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B0A063D-43CF-4685-A29B-B7870536D2E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34F3875-96BD-47A5-AE72-2ACA521FF443}"/>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CC55275-5059-44EA-B5C1-4E69E1619E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4EBEE00-6B24-4029-A1E4-B4180DA97D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2BF0E83-F8A9-4BB2-92E0-66F3594B58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B509D8-1BE2-479F-9532-AA3E37D01E0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26754D3C-05B4-4832-9554-9CC67DF4442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E66AD96-AB66-4853-9087-75FBE4A00E9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1763F61-5653-4023-9032-ECAFF54A65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43727917-970C-4109-B49F-9A61624BCA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1737AEB-0251-4643-B639-5DE8213816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A2EF08-BC4A-4235-8064-6130B582A5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41CCA0E-5C95-4778-824E-AB3CE60080A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EEAF222-88C3-4740-8989-1D1F425188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EE96F1-46DF-49D6-8AE5-326EBC529B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3547FBA-10EA-4ACF-804B-FFEA720615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383D39A-6314-4842-9BD5-429139205D2A}"/>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C7A32A0-DE1F-4D65-893B-817086E23DF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8C62304-14F7-4477-8B7D-82438432F4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42092D4-CFD5-4F64-A50F-B937EDFF6A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1B9F684-286C-4159-B8B4-BA5275E1E8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c8aa57d9884ca1" /><Relationship Type="http://schemas.openxmlformats.org/officeDocument/2006/relationships/slideLayout" Target="/ppt/slideLayouts/slideLayout1.xml" Id="R9590c6eea00f4743" /><Relationship Type="http://schemas.openxmlformats.org/officeDocument/2006/relationships/slideLayout" Target="/ppt/slideLayouts/slideLayout2.xml" Id="R307a919e31bc40dc" /><Relationship Type="http://schemas.openxmlformats.org/officeDocument/2006/relationships/slideLayout" Target="/ppt/slideLayouts/slideLayout3.xml" Id="R634eff9373d3428a" /><Relationship Type="http://schemas.openxmlformats.org/officeDocument/2006/relationships/slideLayout" Target="/ppt/slideLayouts/slideLayout4.xml" Id="R0ead27d651924001" /><Relationship Type="http://schemas.openxmlformats.org/officeDocument/2006/relationships/slideLayout" Target="/ppt/slideLayouts/slideLayout5.xml" Id="R10e75ad20ff1446d" /><Relationship Type="http://schemas.openxmlformats.org/officeDocument/2006/relationships/slideLayout" Target="/ppt/slideLayouts/slideLayout6.xml" Id="R68d3c680fb4d436e" /><Relationship Type="http://schemas.openxmlformats.org/officeDocument/2006/relationships/slideLayout" Target="/ppt/slideLayouts/slideLayout7.xml" Id="R3984528d723e4af9" /><Relationship Type="http://schemas.openxmlformats.org/officeDocument/2006/relationships/slideLayout" Target="/ppt/slideLayouts/slideLayout8.xml" Id="R3324f7a30138487f" /><Relationship Type="http://schemas.openxmlformats.org/officeDocument/2006/relationships/slideLayout" Target="/ppt/slideLayouts/slideLayout9.xml" Id="R1e6f80d835a2426d" /><Relationship Type="http://schemas.openxmlformats.org/officeDocument/2006/relationships/slideLayout" Target="/ppt/slideLayouts/slideLayout10.xml" Id="R8d299b3d83f44c48" /><Relationship Type="http://schemas.openxmlformats.org/officeDocument/2006/relationships/slideLayout" Target="/ppt/slideLayouts/slideLayout11.xml" Id="Re4e209a7d190456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A1B6ECE-724D-4BAD-B969-DBB7AF322E9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D8AC0B4-7966-4866-9D09-5060DF5561D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FDF6337-0DBC-488E-8A41-C371FBC805A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1FB0284-6CAF-4225-AE7C-B92790FDE026}"/>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4F92AD-102B-45A0-9561-C368D1FB561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90c6eea00f4743"/>
    <p:sldLayoutId xmlns:r="http://schemas.openxmlformats.org/officeDocument/2006/relationships" id="2147483650" r:id="R307a919e31bc40dc"/>
    <p:sldLayoutId xmlns:r="http://schemas.openxmlformats.org/officeDocument/2006/relationships" id="2147483651" r:id="R634eff9373d3428a"/>
    <p:sldLayoutId xmlns:r="http://schemas.openxmlformats.org/officeDocument/2006/relationships" id="2147483652" r:id="R0ead27d651924001"/>
    <p:sldLayoutId xmlns:r="http://schemas.openxmlformats.org/officeDocument/2006/relationships" id="2147483653" r:id="R10e75ad20ff1446d"/>
    <p:sldLayoutId xmlns:r="http://schemas.openxmlformats.org/officeDocument/2006/relationships" id="2147483654" r:id="R68d3c680fb4d436e"/>
    <p:sldLayoutId xmlns:r="http://schemas.openxmlformats.org/officeDocument/2006/relationships" id="2147483655" r:id="R3984528d723e4af9"/>
    <p:sldLayoutId xmlns:r="http://schemas.openxmlformats.org/officeDocument/2006/relationships" id="2147483656" r:id="R3324f7a30138487f"/>
    <p:sldLayoutId xmlns:r="http://schemas.openxmlformats.org/officeDocument/2006/relationships" id="2147483657" r:id="R1e6f80d835a2426d"/>
    <p:sldLayoutId xmlns:r="http://schemas.openxmlformats.org/officeDocument/2006/relationships" id="2147483658" r:id="R8d299b3d83f44c48"/>
    <p:sldLayoutId xmlns:r="http://schemas.openxmlformats.org/officeDocument/2006/relationships" id="2147483659" r:id="Re4e209a7d1904564"/>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75a0015ec9b42da" /><Relationship Type="http://schemas.openxmlformats.org/officeDocument/2006/relationships/notesSlide" Target="/ppt/notesSlides/notesSlide1.xml" Id="R38a797611a3948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bb7ffb90b7a4023" /><Relationship Type="http://schemas.openxmlformats.org/officeDocument/2006/relationships/image" Target="/ppt/media/image.png" Id="R436fb6b623cd42e3" /><Relationship Type="http://schemas.openxmlformats.org/officeDocument/2006/relationships/image" Target="/ppt/media/image2.png" Id="R3e666a3f8939440f" /><Relationship Type="http://schemas.openxmlformats.org/officeDocument/2006/relationships/notesSlide" Target="/ppt/notesSlides/notesSlide2.xml" Id="R54841df4b9f04d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6cccef9a8194bc9" /><Relationship Type="http://schemas.openxmlformats.org/officeDocument/2006/relationships/image" Target="/ppt/media/image3.png" Id="R4bfbf9494aca4d7a" /><Relationship Type="http://schemas.openxmlformats.org/officeDocument/2006/relationships/image" Target="/ppt/media/image4.png" Id="R706b8dcd268c4374" /><Relationship Type="http://schemas.openxmlformats.org/officeDocument/2006/relationships/image" Target="/ppt/media/image5.png" Id="Rd89c99e39f06443c" /><Relationship Type="http://schemas.openxmlformats.org/officeDocument/2006/relationships/image" Target="/ppt/media/image6.png" Id="Rc864c52bcf8d49fd" /><Relationship Type="http://schemas.openxmlformats.org/officeDocument/2006/relationships/notesSlide" Target="/ppt/notesSlides/notesSlide3.xml" Id="R6f8659c5cc2745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1babf7f61814985" /><Relationship Type="http://schemas.openxmlformats.org/officeDocument/2006/relationships/notesSlide" Target="/ppt/notesSlides/notesSlide4.xml" Id="Re2d3216d48fa49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9f5e6f227424318" /><Relationship Type="http://schemas.openxmlformats.org/officeDocument/2006/relationships/notesSlide" Target="/ppt/notesSlides/notesSlide5.xml" Id="Rb8d0596ea1f94de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14DE7C3-B51B-4923-8732-1E3AC78676CD}"/>
              </a:ext>
            </a:extLst>
          </p:cNvPr>
          <p:cNvSpPr>
            <a:spLocks xmlns:a="http://schemas.openxmlformats.org/drawingml/2006/main" noGrp="1"/>
          </p:cNvSpPr>
          <p:nvPr/>
        </p:nvSpPr>
        <p:spPr>
          <a:xfrm xmlns:a="http://schemas.openxmlformats.org/drawingml/2006/main">
            <a:off x="475488" y="256032"/>
            <a:ext cx="11155680" cy="4617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lgn="l">
              <a:defRPr sz="2550" b="1">
                <a:solidFill>
                  <a:srgbClr val="172B3A"/>
                </a:solidFill>
                <a:latin typeface="Arial"/>
                <a:ea typeface="Arial"/>
                <a:cs typeface="Arial"/>
              </a:defRPr>
            </a:defPPr>
            <a:lvl1pPr algn="l">
              <a:buNone/>
              <a:defRPr sz="2550" b="1">
                <a:solidFill>
                  <a:srgbClr val="172B3A"/>
                </a:solidFill>
                <a:latin typeface="Arial"/>
                <a:ea typeface="Arial"/>
                <a:cs typeface="Arial"/>
              </a:defRPr>
            </a:lvl1pPr>
            <a:lvl2pPr algn="l">
              <a:buNone/>
              <a:defRPr sz="2550" b="1">
                <a:solidFill>
                  <a:srgbClr val="172B3A"/>
                </a:solidFill>
                <a:latin typeface="Arial"/>
                <a:ea typeface="Arial"/>
                <a:cs typeface="Arial"/>
              </a:defRPr>
            </a:lvl2pPr>
            <a:lvl3pPr algn="l">
              <a:buNone/>
              <a:defRPr sz="2550" b="1">
                <a:solidFill>
                  <a:srgbClr val="172B3A"/>
                </a:solidFill>
                <a:latin typeface="Arial"/>
                <a:ea typeface="Arial"/>
                <a:cs typeface="Arial"/>
              </a:defRPr>
            </a:lvl3pPr>
            <a:lvl4pPr algn="l">
              <a:buNone/>
              <a:defRPr sz="2550" b="1">
                <a:solidFill>
                  <a:srgbClr val="172B3A"/>
                </a:solidFill>
                <a:latin typeface="Arial"/>
                <a:ea typeface="Arial"/>
                <a:cs typeface="Arial"/>
              </a:defRPr>
            </a:lvl4pPr>
            <a:lvl5pPr algn="l">
              <a:buNone/>
              <a:defRPr sz="2550" b="1">
                <a:solidFill>
                  <a:srgbClr val="172B3A"/>
                </a:solidFill>
                <a:latin typeface="Arial"/>
                <a:ea typeface="Arial"/>
                <a:cs typeface="Arial"/>
              </a:defRPr>
            </a:lvl5pPr>
            <a:lvl6pPr algn="l">
              <a:buNone/>
              <a:defRPr sz="2550" b="1">
                <a:solidFill>
                  <a:srgbClr val="172B3A"/>
                </a:solidFill>
                <a:latin typeface="Arial"/>
                <a:ea typeface="Arial"/>
                <a:cs typeface="Arial"/>
              </a:defRPr>
            </a:lvl6pPr>
            <a:lvl7pPr algn="l">
              <a:buNone/>
              <a:defRPr sz="2550" b="1">
                <a:solidFill>
                  <a:srgbClr val="172B3A"/>
                </a:solidFill>
                <a:latin typeface="Arial"/>
                <a:ea typeface="Arial"/>
                <a:cs typeface="Arial"/>
              </a:defRPr>
            </a:lvl7pPr>
            <a:lvl8pPr algn="l">
              <a:buNone/>
              <a:defRPr sz="2550" b="1">
                <a:solidFill>
                  <a:srgbClr val="172B3A"/>
                </a:solidFill>
                <a:latin typeface="Arial"/>
                <a:ea typeface="Arial"/>
                <a:cs typeface="Arial"/>
              </a:defRPr>
            </a:lvl8pPr>
            <a:lvl9pPr algn="l">
              <a:buNone/>
              <a:defRPr sz="2550" b="1">
                <a:solidFill>
                  <a:srgbClr val="172B3A"/>
                </a:solidFill>
                <a:latin typeface="Arial"/>
                <a:ea typeface="Arial"/>
                <a:cs typeface="Arial"/>
              </a:defRPr>
            </a:lvl9pPr>
          </a:lstStyle>
          <a:p xmlns:a="http://schemas.openxmlformats.org/drawingml/2006/main">
            <a:pPr algn="l">
              <a:buNone/>
              <a:defRPr sz="2550" b="1">
                <a:solidFill>
                  <a:srgbClr val="172B3A"/>
                </a:solidFill>
                <a:latin typeface="Arial"/>
                <a:ea typeface="Arial"/>
                <a:cs typeface="Arial"/>
              </a:defRPr>
            </a:pPr>
            <a:r>
              <a:rPr sz="2550" b="1">
                <a:solidFill>
                  <a:srgbClr val="172B3A"/>
                </a:solidFill>
                <a:latin typeface="Arial"/>
                <a:ea typeface="Arial"/>
                <a:cs typeface="Arial"/>
              </a:rPr>
              <a:t>Shortly: architecture and deployment</a:t>
            </a:r>
          </a:p>
        </p:txBody>
      </p:sp>
      <p:sp>
        <p:nvSpPr>
          <p:cNvPr id="3" name="Rectangle 2">
            <a:extLst xmlns:a="http://schemas.openxmlformats.org/drawingml/2006/main">
              <a:ext uri="{FF2B5EF4-FFF2-40B4-BE49-F238E27FC236}">
                <a16:creationId xmlns:a16="http://schemas.microsoft.com/office/drawing/2014/main" id="{6A52BEF3-5D20-4242-BF8D-F12A422EF04B}"/>
              </a:ext>
            </a:extLst>
          </p:cNvPr>
          <p:cNvSpPr>
            <a:spLocks xmlns:a="http://schemas.openxmlformats.org/drawingml/2006/main" noGrp="1"/>
          </p:cNvSpPr>
          <p:nvPr/>
        </p:nvSpPr>
        <p:spPr>
          <a:xfrm xmlns:a="http://schemas.openxmlformats.org/drawingml/2006/main">
            <a:off x="502920" y="896112"/>
            <a:ext cx="749808" cy="54864"/>
          </a:xfrm>
          <a:prstGeom xmlns:a="http://schemas.openxmlformats.org/drawingml/2006/main" prst="rect">
            <a:avLst/>
          </a:prstGeom>
          <a:solidFill xmlns:a="http://schemas.openxmlformats.org/drawingml/2006/main">
            <a:srgbClr val="1A8C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21C88A00-B9CA-4CF1-9640-9CDCEA3D0F27}"/>
              </a:ext>
            </a:extLst>
          </p:cNvPr>
          <p:cNvSpPr>
            <a:spLocks xmlns:a="http://schemas.openxmlformats.org/drawingml/2006/main" noGrp="1"/>
          </p:cNvSpPr>
          <p:nvPr/>
        </p:nvSpPr>
        <p:spPr>
          <a:xfrm xmlns:a="http://schemas.openxmlformats.org/drawingml/2006/main">
            <a:off x="493776" y="969264"/>
            <a:ext cx="11155680" cy="2865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0">
                <a:solidFill>
                  <a:srgbClr val="60727C"/>
                </a:solidFill>
                <a:latin typeface="Arial"/>
                <a:ea typeface="Arial"/>
                <a:cs typeface="Arial"/>
              </a:rPr>
              <a:t>Shortly · FastAPI / Redis / Kubernetes / Prometheus / Grafana / Ansible</a:t>
            </a:r>
          </a:p>
        </p:txBody>
      </p:sp>
      <p:sp>
        <p:nvSpPr>
          <p:cNvPr id="5" name="Rounded Rectangle 4">
            <a:extLst xmlns:a="http://schemas.openxmlformats.org/drawingml/2006/main">
              <a:ext uri="{FF2B5EF4-FFF2-40B4-BE49-F238E27FC236}">
                <a16:creationId xmlns:a16="http://schemas.microsoft.com/office/drawing/2014/main" id="{193691BC-A020-4ED1-B7F2-CA21D8E5AD7C}"/>
              </a:ext>
            </a:extLst>
          </p:cNvPr>
          <p:cNvSpPr>
            <a:spLocks xmlns:a="http://schemas.openxmlformats.org/drawingml/2006/main" noGrp="1"/>
          </p:cNvSpPr>
          <p:nvPr/>
        </p:nvSpPr>
        <p:spPr>
          <a:xfrm xmlns:a="http://schemas.openxmlformats.org/drawingml/2006/main">
            <a:off x="457200" y="1920240"/>
            <a:ext cx="960120" cy="658368"/>
          </a:xfrm>
          <a:prstGeom xmlns:a="http://schemas.openxmlformats.org/drawingml/2006/main" prst="roundRect">
            <a:avLst/>
          </a:prstGeom>
          <a:solidFill xmlns:a="http://schemas.openxmlformats.org/drawingml/2006/main">
            <a:srgbClr val="FFFFFF"/>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User</a:t>
            </a:r>
          </a:p>
        </p:txBody>
      </p:sp>
      <p:sp>
        <p:nvSpPr>
          <p:cNvPr id="6" name="Rounded Rectangle 5">
            <a:extLst xmlns:a="http://schemas.openxmlformats.org/drawingml/2006/main">
              <a:ext uri="{FF2B5EF4-FFF2-40B4-BE49-F238E27FC236}">
                <a16:creationId xmlns:a16="http://schemas.microsoft.com/office/drawing/2014/main" id="{D7D635F4-2B60-41FF-8E63-FE9C6109A17F}"/>
              </a:ext>
            </a:extLst>
          </p:cNvPr>
          <p:cNvSpPr>
            <a:spLocks xmlns:a="http://schemas.openxmlformats.org/drawingml/2006/main" noGrp="1"/>
          </p:cNvSpPr>
          <p:nvPr/>
        </p:nvSpPr>
        <p:spPr>
          <a:xfrm xmlns:a="http://schemas.openxmlformats.org/drawingml/2006/main">
            <a:off x="1691640" y="1920240"/>
            <a:ext cx="1389888" cy="658368"/>
          </a:xfrm>
          <a:prstGeom xmlns:a="http://schemas.openxmlformats.org/drawingml/2006/main" prst="roundRect">
            <a:avLst/>
          </a:prstGeom>
          <a:solidFill xmlns:a="http://schemas.openxmlformats.org/drawingml/2006/main">
            <a:srgbClr val="EEF4F5"/>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nginx Ingress</a:t>
            </a:r>
            <a:br>
              <a:rPr sz="1400" b="1">
                <a:solidFill>
                  <a:srgbClr val="18313F"/>
                </a:solidFill>
                <a:latin typeface="Arial"/>
                <a:ea typeface="Arial"/>
                <a:cs typeface="Arial"/>
              </a:rPr>
            </a:br>
            <a:r>
              <a:rPr sz="1400" b="1">
                <a:solidFill>
                  <a:srgbClr val="18313F"/>
                </a:solidFill>
                <a:latin typeface="Arial"/>
                <a:ea typeface="Arial"/>
                <a:cs typeface="Arial"/>
              </a:rPr>
              <a:t>short.local</a:t>
            </a:r>
          </a:p>
        </p:txBody>
      </p:sp>
      <p:sp>
        <p:nvSpPr>
          <p:cNvPr id="7" name="Rounded Rectangle 6">
            <a:extLst xmlns:a="http://schemas.openxmlformats.org/drawingml/2006/main">
              <a:ext uri="{FF2B5EF4-FFF2-40B4-BE49-F238E27FC236}">
                <a16:creationId xmlns:a16="http://schemas.microsoft.com/office/drawing/2014/main" id="{35BE7DEF-9CFF-4264-97CE-8FEC0C141B51}"/>
              </a:ext>
            </a:extLst>
          </p:cNvPr>
          <p:cNvSpPr>
            <a:spLocks xmlns:a="http://schemas.openxmlformats.org/drawingml/2006/main" noGrp="1"/>
          </p:cNvSpPr>
          <p:nvPr/>
        </p:nvSpPr>
        <p:spPr>
          <a:xfrm xmlns:a="http://schemas.openxmlformats.org/drawingml/2006/main">
            <a:off x="3364992" y="1920240"/>
            <a:ext cx="1188720" cy="658368"/>
          </a:xfrm>
          <a:prstGeom xmlns:a="http://schemas.openxmlformats.org/drawingml/2006/main" prst="roundRect">
            <a:avLst/>
          </a:prstGeom>
          <a:solidFill xmlns:a="http://schemas.openxmlformats.org/drawingml/2006/main">
            <a:srgbClr val="EEF4F5"/>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ClusterIP</a:t>
            </a:r>
            <a:br>
              <a:rPr sz="1400" b="1">
                <a:solidFill>
                  <a:srgbClr val="18313F"/>
                </a:solidFill>
                <a:latin typeface="Arial"/>
                <a:ea typeface="Arial"/>
                <a:cs typeface="Arial"/>
              </a:rPr>
            </a:br>
            <a:r>
              <a:rPr sz="1400" b="1">
                <a:solidFill>
                  <a:srgbClr val="18313F"/>
                </a:solidFill>
                <a:latin typeface="Arial"/>
                <a:ea typeface="Arial"/>
                <a:cs typeface="Arial"/>
              </a:rPr>
              <a:t>Service</a:t>
            </a:r>
          </a:p>
        </p:txBody>
      </p:sp>
      <p:sp>
        <p:nvSpPr>
          <p:cNvPr id="8" name="Rounded Rectangle 7">
            <a:extLst xmlns:a="http://schemas.openxmlformats.org/drawingml/2006/main">
              <a:ext uri="{FF2B5EF4-FFF2-40B4-BE49-F238E27FC236}">
                <a16:creationId xmlns:a16="http://schemas.microsoft.com/office/drawing/2014/main" id="{1CE6CF8E-5CE5-41F2-80BA-BCEE77E3A12B}"/>
              </a:ext>
            </a:extLst>
          </p:cNvPr>
          <p:cNvSpPr>
            <a:spLocks xmlns:a="http://schemas.openxmlformats.org/drawingml/2006/main" noGrp="1"/>
          </p:cNvSpPr>
          <p:nvPr/>
        </p:nvSpPr>
        <p:spPr>
          <a:xfrm xmlns:a="http://schemas.openxmlformats.org/drawingml/2006/main">
            <a:off x="4846320" y="1700784"/>
            <a:ext cx="1938528" cy="1097280"/>
          </a:xfrm>
          <a:prstGeom xmlns:a="http://schemas.openxmlformats.org/drawingml/2006/main" prst="roundRect">
            <a:avLst/>
          </a:prstGeom>
          <a:solidFill xmlns:a="http://schemas.openxmlformats.org/drawingml/2006/main">
            <a:srgbClr val="DDF0EF"/>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Shortly API pods</a:t>
            </a:r>
            <a:br>
              <a:rPr sz="1500" b="1">
                <a:solidFill>
                  <a:srgbClr val="18313F"/>
                </a:solidFill>
                <a:latin typeface="Arial"/>
                <a:ea typeface="Arial"/>
                <a:cs typeface="Arial"/>
              </a:rPr>
            </a:br>
            <a:r>
              <a:rPr sz="1500" b="1">
                <a:solidFill>
                  <a:srgbClr val="18313F"/>
                </a:solidFill>
                <a:latin typeface="Arial"/>
                <a:ea typeface="Arial"/>
                <a:cs typeface="Arial"/>
              </a:rPr>
              <a:t>HPA 2–5 · PDB min 1</a:t>
            </a:r>
          </a:p>
        </p:txBody>
      </p:sp>
      <p:sp>
        <p:nvSpPr>
          <p:cNvPr id="9" name="Rounded Rectangle 8">
            <a:extLst xmlns:a="http://schemas.openxmlformats.org/drawingml/2006/main">
              <a:ext uri="{FF2B5EF4-FFF2-40B4-BE49-F238E27FC236}">
                <a16:creationId xmlns:a16="http://schemas.microsoft.com/office/drawing/2014/main" id="{7EE78D60-6F92-4FC7-AF70-EA3D20B77926}"/>
              </a:ext>
            </a:extLst>
          </p:cNvPr>
          <p:cNvSpPr>
            <a:spLocks xmlns:a="http://schemas.openxmlformats.org/drawingml/2006/main" noGrp="1"/>
          </p:cNvSpPr>
          <p:nvPr/>
        </p:nvSpPr>
        <p:spPr>
          <a:xfrm xmlns:a="http://schemas.openxmlformats.org/drawingml/2006/main">
            <a:off x="7150608" y="1920240"/>
            <a:ext cx="1261872" cy="658368"/>
          </a:xfrm>
          <a:prstGeom xmlns:a="http://schemas.openxmlformats.org/drawingml/2006/main" prst="roundRect">
            <a:avLst/>
          </a:prstGeom>
          <a:solidFill xmlns:a="http://schemas.openxmlformats.org/drawingml/2006/main">
            <a:srgbClr val="EEF4F5"/>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Redis</a:t>
            </a:r>
            <a:br>
              <a:rPr sz="1400" b="1">
                <a:solidFill>
                  <a:srgbClr val="18313F"/>
                </a:solidFill>
                <a:latin typeface="Arial"/>
                <a:ea typeface="Arial"/>
                <a:cs typeface="Arial"/>
              </a:rPr>
            </a:br>
            <a:r>
              <a:rPr sz="1400" b="1">
                <a:solidFill>
                  <a:srgbClr val="18313F"/>
                </a:solidFill>
                <a:latin typeface="Arial"/>
                <a:ea typeface="Arial"/>
                <a:cs typeface="Arial"/>
              </a:rPr>
              <a:t>shared state</a:t>
            </a:r>
          </a:p>
        </p:txBody>
      </p:sp>
      <p:sp>
        <p:nvSpPr>
          <p:cNvPr id="10" name="Rounded Rectangle 9">
            <a:extLst xmlns:a="http://schemas.openxmlformats.org/drawingml/2006/main">
              <a:ext uri="{FF2B5EF4-FFF2-40B4-BE49-F238E27FC236}">
                <a16:creationId xmlns:a16="http://schemas.microsoft.com/office/drawing/2014/main" id="{65AAE25F-9FC7-4B61-A452-C290B7A84171}"/>
              </a:ext>
            </a:extLst>
          </p:cNvPr>
          <p:cNvSpPr>
            <a:spLocks xmlns:a="http://schemas.openxmlformats.org/drawingml/2006/main" noGrp="1"/>
          </p:cNvSpPr>
          <p:nvPr/>
        </p:nvSpPr>
        <p:spPr>
          <a:xfrm xmlns:a="http://schemas.openxmlformats.org/drawingml/2006/main">
            <a:off x="8668512" y="1920240"/>
            <a:ext cx="960120" cy="658368"/>
          </a:xfrm>
          <a:prstGeom xmlns:a="http://schemas.openxmlformats.org/drawingml/2006/main" prst="roundRect">
            <a:avLst/>
          </a:prstGeom>
          <a:solidFill xmlns:a="http://schemas.openxmlformats.org/drawingml/2006/main">
            <a:srgbClr val="FFFFFF"/>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1 Gi PVC</a:t>
            </a:r>
            <a:br>
              <a:rPr sz="1400" b="1">
                <a:solidFill>
                  <a:srgbClr val="18313F"/>
                </a:solidFill>
                <a:latin typeface="Arial"/>
                <a:ea typeface="Arial"/>
                <a:cs typeface="Arial"/>
              </a:rPr>
            </a:br>
            <a:r>
              <a:rPr sz="1400" b="1">
                <a:solidFill>
                  <a:srgbClr val="18313F"/>
                </a:solidFill>
                <a:latin typeface="Arial"/>
                <a:ea typeface="Arial"/>
                <a:cs typeface="Arial"/>
              </a:rPr>
              <a:t>AOF</a:t>
            </a:r>
          </a:p>
        </p:txBody>
      </p:sp>
      <p:sp>
        <p:nvSpPr>
          <p:cNvPr id="11" name="Connector 10">
            <a:extLst xmlns:a="http://schemas.openxmlformats.org/drawingml/2006/main">
              <a:ext uri="{FF2B5EF4-FFF2-40B4-BE49-F238E27FC236}">
                <a16:creationId xmlns:a16="http://schemas.microsoft.com/office/drawing/2014/main" id="{8EBED891-28CD-40DD-9DCF-74194A245921}"/>
              </a:ext>
            </a:extLst>
          </p:cNvPr>
          <p:cNvSpPr>
            <a:spLocks xmlns:a="http://schemas.openxmlformats.org/drawingml/2006/main" noGrp="1"/>
          </p:cNvSpPr>
          <p:nvPr/>
        </p:nvSpPr>
        <p:spPr>
          <a:xfrm xmlns:a="http://schemas.openxmlformats.org/drawingml/2006/main">
            <a:off x="1417320" y="2249424"/>
            <a:ext cx="274320"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1E7AD26-C6BC-4658-B47F-6D24CA5B0612}"/>
              </a:ext>
            </a:extLst>
          </p:cNvPr>
          <p:cNvSpPr>
            <a:spLocks xmlns:a="http://schemas.openxmlformats.org/drawingml/2006/main" noGrp="1"/>
          </p:cNvSpPr>
          <p:nvPr/>
        </p:nvSpPr>
        <p:spPr>
          <a:xfrm xmlns:a="http://schemas.openxmlformats.org/drawingml/2006/main">
            <a:off x="3081528" y="2249424"/>
            <a:ext cx="283464"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7E041A-F8D6-46EE-B21E-95F4FF82CB19}"/>
              </a:ext>
            </a:extLst>
          </p:cNvPr>
          <p:cNvSpPr>
            <a:spLocks xmlns:a="http://schemas.openxmlformats.org/drawingml/2006/main" noGrp="1"/>
          </p:cNvSpPr>
          <p:nvPr/>
        </p:nvSpPr>
        <p:spPr>
          <a:xfrm xmlns:a="http://schemas.openxmlformats.org/drawingml/2006/main">
            <a:off x="4553712" y="2249424"/>
            <a:ext cx="292608"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0804568-FB2E-480F-ABCC-583C40471E2E}"/>
              </a:ext>
            </a:extLst>
          </p:cNvPr>
          <p:cNvSpPr>
            <a:spLocks xmlns:a="http://schemas.openxmlformats.org/drawingml/2006/main" noGrp="1"/>
          </p:cNvSpPr>
          <p:nvPr/>
        </p:nvSpPr>
        <p:spPr>
          <a:xfrm xmlns:a="http://schemas.openxmlformats.org/drawingml/2006/main">
            <a:off x="6784848" y="2249424"/>
            <a:ext cx="365760"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988161E1-80A3-4C68-9EEE-09364DD8AAF2}"/>
              </a:ext>
            </a:extLst>
          </p:cNvPr>
          <p:cNvSpPr>
            <a:spLocks xmlns:a="http://schemas.openxmlformats.org/drawingml/2006/main" noGrp="1"/>
          </p:cNvSpPr>
          <p:nvPr/>
        </p:nvSpPr>
        <p:spPr>
          <a:xfrm xmlns:a="http://schemas.openxmlformats.org/drawingml/2006/main">
            <a:off x="8412480" y="2249424"/>
            <a:ext cx="256032"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Rounded Rectangle 15">
            <a:extLst xmlns:a="http://schemas.openxmlformats.org/drawingml/2006/main">
              <a:ext uri="{FF2B5EF4-FFF2-40B4-BE49-F238E27FC236}">
                <a16:creationId xmlns:a16="http://schemas.microsoft.com/office/drawing/2014/main" id="{627B64FD-8A31-4482-9157-FABC02B7E57A}"/>
              </a:ext>
            </a:extLst>
          </p:cNvPr>
          <p:cNvSpPr>
            <a:spLocks xmlns:a="http://schemas.openxmlformats.org/drawingml/2006/main" noGrp="1"/>
          </p:cNvSpPr>
          <p:nvPr/>
        </p:nvSpPr>
        <p:spPr>
          <a:xfrm xmlns:a="http://schemas.openxmlformats.org/drawingml/2006/main">
            <a:off x="9875520" y="1691640"/>
            <a:ext cx="1847088" cy="1115568"/>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ServiceMonitor → Prometheus</a:t>
            </a:r>
            <a:br>
              <a:rPr sz="1400" b="1">
                <a:solidFill>
                  <a:srgbClr val="18313F"/>
                </a:solidFill>
                <a:latin typeface="Arial"/>
                <a:ea typeface="Arial"/>
                <a:cs typeface="Arial"/>
              </a:rPr>
            </a:br>
            <a:r>
              <a:rPr sz="1400" b="1">
                <a:solidFill>
                  <a:srgbClr val="18313F"/>
                </a:solidFill>
                <a:latin typeface="Arial"/>
                <a:ea typeface="Arial"/>
                <a:cs typeface="Arial"/>
              </a:rPr>
              <a:t>Grafana dashboard · Alertmanager</a:t>
            </a:r>
          </a:p>
        </p:txBody>
      </p:sp>
      <p:sp>
        <p:nvSpPr>
          <p:cNvPr id="17" name="Connector 16">
            <a:extLst xmlns:a="http://schemas.openxmlformats.org/drawingml/2006/main">
              <a:ext uri="{FF2B5EF4-FFF2-40B4-BE49-F238E27FC236}">
                <a16:creationId xmlns:a16="http://schemas.microsoft.com/office/drawing/2014/main" id="{BA18EDD2-69B6-4DD5-A44C-A576C70E3468}"/>
              </a:ext>
            </a:extLst>
          </p:cNvPr>
          <p:cNvSpPr>
            <a:spLocks xmlns:a="http://schemas.openxmlformats.org/drawingml/2006/main" noGrp="1"/>
          </p:cNvSpPr>
          <p:nvPr/>
        </p:nvSpPr>
        <p:spPr>
          <a:xfrm xmlns:a="http://schemas.openxmlformats.org/drawingml/2006/main" flipV="1">
            <a:off x="5815584" y="1444752"/>
            <a:ext cx="0" cy="256032"/>
          </a:xfrm>
          <a:prstGeom xmlns:a="http://schemas.openxmlformats.org/drawingml/2006/main" prst="line">
            <a:avLst/>
          </a:prstGeom>
          <a:ln xmlns:a="http://schemas.openxmlformats.org/drawingml/2006/main" w="1524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AEE9DA7-2402-425A-8317-4DA7BE12B59B}"/>
              </a:ext>
            </a:extLst>
          </p:cNvPr>
          <p:cNvSpPr>
            <a:spLocks xmlns:a="http://schemas.openxmlformats.org/drawingml/2006/main" noGrp="1"/>
          </p:cNvSpPr>
          <p:nvPr/>
        </p:nvSpPr>
        <p:spPr>
          <a:xfrm xmlns:a="http://schemas.openxmlformats.org/drawingml/2006/main">
            <a:off x="5815584" y="1444752"/>
            <a:ext cx="4059936" cy="0"/>
          </a:xfrm>
          <a:prstGeom xmlns:a="http://schemas.openxmlformats.org/drawingml/2006/main" prst="line">
            <a:avLst/>
          </a:prstGeom>
          <a:ln xmlns:a="http://schemas.openxmlformats.org/drawingml/2006/main" w="1524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A4C81F2-3A62-4CCC-9373-C6D03A050A4C}"/>
              </a:ext>
            </a:extLst>
          </p:cNvPr>
          <p:cNvSpPr>
            <a:spLocks xmlns:a="http://schemas.openxmlformats.org/drawingml/2006/main" noGrp="1"/>
          </p:cNvSpPr>
          <p:nvPr/>
        </p:nvSpPr>
        <p:spPr>
          <a:xfrm xmlns:a="http://schemas.openxmlformats.org/drawingml/2006/main">
            <a:off x="9875520" y="1444752"/>
            <a:ext cx="0" cy="246888"/>
          </a:xfrm>
          <a:prstGeom xmlns:a="http://schemas.openxmlformats.org/drawingml/2006/main" prst="line">
            <a:avLst/>
          </a:prstGeom>
          <a:ln xmlns:a="http://schemas.openxmlformats.org/drawingml/2006/main" w="1524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Rounded Rectangle 19">
            <a:extLst xmlns:a="http://schemas.openxmlformats.org/drawingml/2006/main">
              <a:ext uri="{FF2B5EF4-FFF2-40B4-BE49-F238E27FC236}">
                <a16:creationId xmlns:a16="http://schemas.microsoft.com/office/drawing/2014/main" id="{0217B281-D66A-4CE3-9782-7C18E7F43C5D}"/>
              </a:ext>
            </a:extLst>
          </p:cNvPr>
          <p:cNvSpPr>
            <a:spLocks xmlns:a="http://schemas.openxmlformats.org/drawingml/2006/main" noGrp="1"/>
          </p:cNvSpPr>
          <p:nvPr/>
        </p:nvSpPr>
        <p:spPr>
          <a:xfrm xmlns:a="http://schemas.openxmlformats.org/drawingml/2006/main">
            <a:off x="1005840" y="3675887"/>
            <a:ext cx="3429000" cy="749808"/>
          </a:xfrm>
          <a:prstGeom xmlns:a="http://schemas.openxmlformats.org/drawingml/2006/main" prst="roundRect">
            <a:avLst/>
          </a:prstGeom>
          <a:solidFill xmlns:a="http://schemas.openxmlformats.org/drawingml/2006/main">
            <a:srgbClr val="F2F5F7"/>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GitHub Actions</a:t>
            </a:r>
            <a:br>
              <a:rPr sz="1400" b="1">
                <a:solidFill>
                  <a:srgbClr val="18313F"/>
                </a:solidFill>
                <a:latin typeface="Arial"/>
                <a:ea typeface="Arial"/>
                <a:cs typeface="Arial"/>
              </a:rPr>
            </a:br>
            <a:r>
              <a:rPr sz="1400" b="1">
                <a:solidFill>
                  <a:srgbClr val="18313F"/>
                </a:solidFill>
                <a:latin typeface="Arial"/>
                <a:ea typeface="Arial"/>
                <a:cs typeface="Arial"/>
              </a:rPr>
              <a:t>hosted checks → self-hosted deploy</a:t>
            </a:r>
          </a:p>
        </p:txBody>
      </p:sp>
      <p:sp>
        <p:nvSpPr>
          <p:cNvPr id="21" name="Rounded Rectangle 20">
            <a:extLst xmlns:a="http://schemas.openxmlformats.org/drawingml/2006/main">
              <a:ext uri="{FF2B5EF4-FFF2-40B4-BE49-F238E27FC236}">
                <a16:creationId xmlns:a16="http://schemas.microsoft.com/office/drawing/2014/main" id="{5428810B-80A5-473C-994E-5E165B649540}"/>
              </a:ext>
            </a:extLst>
          </p:cNvPr>
          <p:cNvSpPr>
            <a:spLocks xmlns:a="http://schemas.openxmlformats.org/drawingml/2006/main" noGrp="1"/>
          </p:cNvSpPr>
          <p:nvPr/>
        </p:nvSpPr>
        <p:spPr>
          <a:xfrm xmlns:a="http://schemas.openxmlformats.org/drawingml/2006/main">
            <a:off x="4645152" y="3675887"/>
            <a:ext cx="3200400" cy="749808"/>
          </a:xfrm>
          <a:prstGeom xmlns:a="http://schemas.openxmlformats.org/drawingml/2006/main" prst="roundRect">
            <a:avLst/>
          </a:prstGeom>
          <a:solidFill xmlns:a="http://schemas.openxmlformats.org/drawingml/2006/main">
            <a:srgbClr val="F2F5F7"/>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Ansible</a:t>
            </a:r>
            <a:br>
              <a:rPr sz="1400" b="1">
                <a:solidFill>
                  <a:srgbClr val="18313F"/>
                </a:solidFill>
                <a:latin typeface="Arial"/>
                <a:ea typeface="Arial"/>
                <a:cs typeface="Arial"/>
              </a:rPr>
            </a:br>
            <a:r>
              <a:rPr sz="1400" b="1">
                <a:solidFill>
                  <a:srgbClr val="18313F"/>
                </a:solidFill>
                <a:latin typeface="Arial"/>
                <a:ea typeface="Arial"/>
                <a:cs typeface="Arial"/>
              </a:rPr>
              <a:t>Debian / Ubuntu host configuration</a:t>
            </a:r>
          </a:p>
        </p:txBody>
      </p:sp>
      <p:sp>
        <p:nvSpPr>
          <p:cNvPr id="22" name="Connector 21">
            <a:extLst xmlns:a="http://schemas.openxmlformats.org/drawingml/2006/main">
              <a:ext uri="{FF2B5EF4-FFF2-40B4-BE49-F238E27FC236}">
                <a16:creationId xmlns:a16="http://schemas.microsoft.com/office/drawing/2014/main" id="{E53B2414-F281-43D3-91DC-1B66337BF6B5}"/>
              </a:ext>
            </a:extLst>
          </p:cNvPr>
          <p:cNvSpPr>
            <a:spLocks xmlns:a="http://schemas.openxmlformats.org/drawingml/2006/main" noGrp="1"/>
          </p:cNvSpPr>
          <p:nvPr/>
        </p:nvSpPr>
        <p:spPr>
          <a:xfrm xmlns:a="http://schemas.openxmlformats.org/drawingml/2006/main" flipH="1">
            <a:off x="4434840" y="4050791"/>
            <a:ext cx="210312" cy="0"/>
          </a:xfrm>
          <a:prstGeom xmlns:a="http://schemas.openxmlformats.org/drawingml/2006/main" prst="line">
            <a:avLst/>
          </a:prstGeom>
          <a:ln xmlns:a="http://schemas.openxmlformats.org/drawingml/2006/main" w="15240">
            <a:solidFill>
              <a:srgbClr val="60727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98B3CC55-0C01-458D-9E3D-C0EB7AF5B70B}"/>
              </a:ext>
            </a:extLst>
          </p:cNvPr>
          <p:cNvSpPr>
            <a:spLocks xmlns:a="http://schemas.openxmlformats.org/drawingml/2006/main" noGrp="1"/>
          </p:cNvSpPr>
          <p:nvPr/>
        </p:nvSpPr>
        <p:spPr>
          <a:xfrm xmlns:a="http://schemas.openxmlformats.org/drawingml/2006/main">
            <a:off x="640080" y="5010912"/>
            <a:ext cx="10972800" cy="640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500" b="1">
                <a:solidFill>
                  <a:srgbClr val="18313F"/>
                </a:solidFill>
                <a:latin typeface="Arial"/>
                <a:ea typeface="Arial"/>
                <a:cs typeface="Arial"/>
              </a:rPr>
              <a:t>Key choices: stateless API + Redis · readiness checks Redis; liveness does not</a:t>
            </a:r>
            <a:br>
              <a:rPr sz="1500" b="1">
                <a:solidFill>
                  <a:srgbClr val="18313F"/>
                </a:solidFill>
                <a:latin typeface="Arial"/>
                <a:ea typeface="Arial"/>
                <a:cs typeface="Arial"/>
              </a:rPr>
            </a:br>
            <a:r>
              <a:rPr sz="1500" b="1">
                <a:solidFill>
                  <a:srgbClr val="18313F"/>
                </a:solidFill>
                <a:latin typeface="Arial"/>
                <a:ea typeface="Arial"/>
                <a:cs typeface="Arial"/>
              </a:rPr>
              <a:t>maxUnavailable: 0 · one Redis replica in this local demo</a:t>
            </a:r>
          </a:p>
        </p:txBody>
      </p:sp>
      <p:sp>
        <p:nvSpPr>
          <p:cNvPr id="24" name="TextBox 23">
            <a:extLst xmlns:a="http://schemas.openxmlformats.org/drawingml/2006/main">
              <a:ext uri="{FF2B5EF4-FFF2-40B4-BE49-F238E27FC236}">
                <a16:creationId xmlns:a16="http://schemas.microsoft.com/office/drawing/2014/main" id="{81C6C62A-E775-4243-A9E6-4BA590ECD371}"/>
              </a:ext>
            </a:extLst>
          </p:cNvPr>
          <p:cNvSpPr>
            <a:spLocks xmlns:a="http://schemas.openxmlformats.org/drawingml/2006/main" noGrp="1"/>
          </p:cNvSpPr>
          <p:nvPr/>
        </p:nvSpPr>
        <p:spPr>
          <a:xfrm xmlns:a="http://schemas.openxmlformats.org/drawingml/2006/main">
            <a:off x="640080" y="5760720"/>
            <a:ext cx="10972800" cy="3108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400" b="0">
                <a:solidFill>
                  <a:srgbClr val="60727C"/>
                </a:solidFill>
                <a:latin typeface="Arial"/>
                <a:ea typeface="Arial"/>
                <a:cs typeface="Arial"/>
              </a:rPr>
              <a:t>Metrics scrape the app Service; the local Alertmanager uses a null receiver.</a:t>
            </a:r>
          </a:p>
        </p:txBody>
      </p:sp>
      <p:sp>
        <p:nvSpPr>
          <p:cNvPr id="25" name="TextBox 24">
            <a:extLst xmlns:a="http://schemas.openxmlformats.org/drawingml/2006/main">
              <a:ext uri="{FF2B5EF4-FFF2-40B4-BE49-F238E27FC236}">
                <a16:creationId xmlns:a16="http://schemas.microsoft.com/office/drawing/2014/main" id="{6B678FF0-51B1-4FD2-953E-9F9FA372408E}"/>
              </a:ext>
            </a:extLst>
          </p:cNvPr>
          <p:cNvSpPr>
            <a:spLocks xmlns:a="http://schemas.openxmlformats.org/drawingml/2006/main" noGrp="1"/>
          </p:cNvSpPr>
          <p:nvPr/>
        </p:nvSpPr>
        <p:spPr>
          <a:xfrm xmlns:a="http://schemas.openxmlformats.org/drawingml/2006/main">
            <a:off x="502920" y="6510528"/>
            <a:ext cx="9875520" cy="1874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defRPr sz="750">
                <a:solidFill>
                  <a:srgbClr val="60727C"/>
                </a:solidFill>
              </a:defRPr>
            </a:defPPr>
            <a:lvl1pPr>
              <a:buNone/>
              <a:defRPr sz="750">
                <a:solidFill>
                  <a:srgbClr val="60727C"/>
                </a:solidFill>
              </a:defRPr>
            </a:lvl1pPr>
            <a:lvl2pPr>
              <a:buNone/>
              <a:defRPr sz="750">
                <a:solidFill>
                  <a:srgbClr val="60727C"/>
                </a:solidFill>
              </a:defRPr>
            </a:lvl2pPr>
            <a:lvl3pPr>
              <a:buNone/>
              <a:defRPr sz="750">
                <a:solidFill>
                  <a:srgbClr val="60727C"/>
                </a:solidFill>
              </a:defRPr>
            </a:lvl3pPr>
            <a:lvl4pPr>
              <a:buNone/>
              <a:defRPr sz="750">
                <a:solidFill>
                  <a:srgbClr val="60727C"/>
                </a:solidFill>
              </a:defRPr>
            </a:lvl4pPr>
            <a:lvl5pPr>
              <a:buNone/>
              <a:defRPr sz="750">
                <a:solidFill>
                  <a:srgbClr val="60727C"/>
                </a:solidFill>
              </a:defRPr>
            </a:lvl5pPr>
            <a:lvl6pPr>
              <a:buNone/>
              <a:defRPr sz="750">
                <a:solidFill>
                  <a:srgbClr val="60727C"/>
                </a:solidFill>
              </a:defRPr>
            </a:lvl6pPr>
            <a:lvl7pPr>
              <a:buNone/>
              <a:defRPr sz="750">
                <a:solidFill>
                  <a:srgbClr val="60727C"/>
                </a:solidFill>
              </a:defRPr>
            </a:lvl7pPr>
            <a:lvl8pPr>
              <a:buNone/>
              <a:defRPr sz="750">
                <a:solidFill>
                  <a:srgbClr val="60727C"/>
                </a:solidFill>
              </a:defRPr>
            </a:lvl8pPr>
            <a:lvl9pPr>
              <a:buNone/>
              <a:defRPr sz="750">
                <a:solidFill>
                  <a:srgbClr val="60727C"/>
                </a:solidFill>
              </a:defRPr>
            </a:lvl9pPr>
          </a:lstStyle>
          <a:p xmlns:a="http://schemas.openxmlformats.org/drawingml/2006/main">
            <a:pPr>
              <a:buNone/>
              <a:defRPr sz="750">
                <a:solidFill>
                  <a:srgbClr val="60727C"/>
                </a:solidFill>
              </a:defRPr>
            </a:pPr>
            <a:r>
              <a:rPr sz="750" b="0">
                <a:solidFill>
                  <a:srgbClr val="60727C"/>
                </a:solidFill>
                <a:latin typeface="Arial"/>
                <a:ea typeface="Arial"/>
                <a:cs typeface="Arial"/>
              </a:rPr>
              <a:t>Harsh Ledwani (23070122100)  |  Shivam Kapure (23070122113)  |  Kashyup Gaud (23070122114)  |  Kisna Kanti (23070122116)</a:t>
            </a:r>
          </a:p>
        </p:txBody>
      </p:sp>
      <p:sp>
        <p:nvSpPr>
          <p:cNvPr id="26" name="TextBox 25">
            <a:extLst xmlns:a="http://schemas.openxmlformats.org/drawingml/2006/main">
              <a:ext uri="{FF2B5EF4-FFF2-40B4-BE49-F238E27FC236}">
                <a16:creationId xmlns:a16="http://schemas.microsoft.com/office/drawing/2014/main" id="{5617FBC0-6A79-4110-A0A6-D99D9F5FB8E1}"/>
              </a:ext>
            </a:extLst>
          </p:cNvPr>
          <p:cNvSpPr>
            <a:spLocks xmlns:a="http://schemas.openxmlformats.org/drawingml/2006/main" noGrp="1"/>
          </p:cNvSpPr>
          <p:nvPr/>
        </p:nvSpPr>
        <p:spPr>
          <a:xfrm xmlns:a="http://schemas.openxmlformats.org/drawingml/2006/main">
            <a:off x="11201400" y="6492240"/>
            <a:ext cx="411480" cy="1828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00" b="0">
                <a:solidFill>
                  <a:srgbClr val="60727C"/>
                </a:solidFill>
                <a:latin typeface="Arial"/>
                <a:ea typeface="Arial"/>
                <a:cs typeface="Arial"/>
              </a:rPr>
              <a:t>1</a:t>
            </a:r>
          </a:p>
        </p:txBody>
      </p:sp>
    </p:spTree>
    <p:extLst>
      <p:ext uri="{BB962C8B-B14F-4D97-AF65-F5344CB8AC3E}">
        <p14:creationId xmlns:p14="http://schemas.microsoft.com/office/powerpoint/2010/main" val="13214480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4A2AD1E-3BE0-4E5D-A39C-169E2E94B409}"/>
              </a:ext>
            </a:extLst>
          </p:cNvPr>
          <p:cNvSpPr>
            <a:spLocks xmlns:a="http://schemas.openxmlformats.org/drawingml/2006/main" noGrp="1"/>
          </p:cNvSpPr>
          <p:nvPr/>
        </p:nvSpPr>
        <p:spPr>
          <a:xfrm xmlns:a="http://schemas.openxmlformats.org/drawingml/2006/main">
            <a:off x="475488" y="256032"/>
            <a:ext cx="11155680" cy="4617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lgn="l">
              <a:defRPr sz="2550" b="1">
                <a:solidFill>
                  <a:srgbClr val="172B3A"/>
                </a:solidFill>
                <a:latin typeface="Arial"/>
                <a:ea typeface="Arial"/>
                <a:cs typeface="Arial"/>
              </a:defRPr>
            </a:defPPr>
            <a:lvl1pPr algn="l">
              <a:buNone/>
              <a:defRPr sz="2550" b="1">
                <a:solidFill>
                  <a:srgbClr val="172B3A"/>
                </a:solidFill>
                <a:latin typeface="Arial"/>
                <a:ea typeface="Arial"/>
                <a:cs typeface="Arial"/>
              </a:defRPr>
            </a:lvl1pPr>
            <a:lvl2pPr algn="l">
              <a:buNone/>
              <a:defRPr sz="2550" b="1">
                <a:solidFill>
                  <a:srgbClr val="172B3A"/>
                </a:solidFill>
                <a:latin typeface="Arial"/>
                <a:ea typeface="Arial"/>
                <a:cs typeface="Arial"/>
              </a:defRPr>
            </a:lvl2pPr>
            <a:lvl3pPr algn="l">
              <a:buNone/>
              <a:defRPr sz="2550" b="1">
                <a:solidFill>
                  <a:srgbClr val="172B3A"/>
                </a:solidFill>
                <a:latin typeface="Arial"/>
                <a:ea typeface="Arial"/>
                <a:cs typeface="Arial"/>
              </a:defRPr>
            </a:lvl3pPr>
            <a:lvl4pPr algn="l">
              <a:buNone/>
              <a:defRPr sz="2550" b="1">
                <a:solidFill>
                  <a:srgbClr val="172B3A"/>
                </a:solidFill>
                <a:latin typeface="Arial"/>
                <a:ea typeface="Arial"/>
                <a:cs typeface="Arial"/>
              </a:defRPr>
            </a:lvl4pPr>
            <a:lvl5pPr algn="l">
              <a:buNone/>
              <a:defRPr sz="2550" b="1">
                <a:solidFill>
                  <a:srgbClr val="172B3A"/>
                </a:solidFill>
                <a:latin typeface="Arial"/>
                <a:ea typeface="Arial"/>
                <a:cs typeface="Arial"/>
              </a:defRPr>
            </a:lvl5pPr>
            <a:lvl6pPr algn="l">
              <a:buNone/>
              <a:defRPr sz="2550" b="1">
                <a:solidFill>
                  <a:srgbClr val="172B3A"/>
                </a:solidFill>
                <a:latin typeface="Arial"/>
                <a:ea typeface="Arial"/>
                <a:cs typeface="Arial"/>
              </a:defRPr>
            </a:lvl6pPr>
            <a:lvl7pPr algn="l">
              <a:buNone/>
              <a:defRPr sz="2550" b="1">
                <a:solidFill>
                  <a:srgbClr val="172B3A"/>
                </a:solidFill>
                <a:latin typeface="Arial"/>
                <a:ea typeface="Arial"/>
                <a:cs typeface="Arial"/>
              </a:defRPr>
            </a:lvl7pPr>
            <a:lvl8pPr algn="l">
              <a:buNone/>
              <a:defRPr sz="2550" b="1">
                <a:solidFill>
                  <a:srgbClr val="172B3A"/>
                </a:solidFill>
                <a:latin typeface="Arial"/>
                <a:ea typeface="Arial"/>
                <a:cs typeface="Arial"/>
              </a:defRPr>
            </a:lvl8pPr>
            <a:lvl9pPr algn="l">
              <a:buNone/>
              <a:defRPr sz="2550" b="1">
                <a:solidFill>
                  <a:srgbClr val="172B3A"/>
                </a:solidFill>
                <a:latin typeface="Arial"/>
                <a:ea typeface="Arial"/>
                <a:cs typeface="Arial"/>
              </a:defRPr>
            </a:lvl9pPr>
          </a:lstStyle>
          <a:p xmlns:a="http://schemas.openxmlformats.org/drawingml/2006/main">
            <a:pPr algn="l">
              <a:buNone/>
              <a:defRPr sz="2550" b="1">
                <a:solidFill>
                  <a:srgbClr val="172B3A"/>
                </a:solidFill>
                <a:latin typeface="Arial"/>
                <a:ea typeface="Arial"/>
                <a:cs typeface="Arial"/>
              </a:defRPr>
            </a:pPr>
            <a:r>
              <a:rPr sz="2550" b="1">
                <a:solidFill>
                  <a:srgbClr val="172B3A"/>
                </a:solidFill>
                <a:latin typeface="Arial"/>
                <a:ea typeface="Arial"/>
                <a:cs typeface="Arial"/>
              </a:rPr>
              <a:t>GitHub Actions: build, scan, deploy and verify</a:t>
            </a:r>
          </a:p>
        </p:txBody>
      </p:sp>
      <p:sp>
        <p:nvSpPr>
          <p:cNvPr id="3" name="Rectangle 2">
            <a:extLst xmlns:a="http://schemas.openxmlformats.org/drawingml/2006/main">
              <a:ext uri="{FF2B5EF4-FFF2-40B4-BE49-F238E27FC236}">
                <a16:creationId xmlns:a16="http://schemas.microsoft.com/office/drawing/2014/main" id="{1792224A-3BCC-4C8B-AC2A-47CA60724F89}"/>
              </a:ext>
            </a:extLst>
          </p:cNvPr>
          <p:cNvSpPr>
            <a:spLocks xmlns:a="http://schemas.openxmlformats.org/drawingml/2006/main" noGrp="1"/>
          </p:cNvSpPr>
          <p:nvPr/>
        </p:nvSpPr>
        <p:spPr>
          <a:xfrm xmlns:a="http://schemas.openxmlformats.org/drawingml/2006/main">
            <a:off x="502920" y="896112"/>
            <a:ext cx="749808" cy="54864"/>
          </a:xfrm>
          <a:prstGeom xmlns:a="http://schemas.openxmlformats.org/drawingml/2006/main" prst="rect">
            <a:avLst/>
          </a:prstGeom>
          <a:solidFill xmlns:a="http://schemas.openxmlformats.org/drawingml/2006/main">
            <a:srgbClr val="1A8C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AFE87B1-08DB-4182-9B69-872EC8E13AA8}"/>
              </a:ext>
            </a:extLst>
          </p:cNvPr>
          <p:cNvSpPr>
            <a:spLocks xmlns:a="http://schemas.openxmlformats.org/drawingml/2006/main" noGrp="1"/>
          </p:cNvSpPr>
          <p:nvPr/>
        </p:nvSpPr>
        <p:spPr>
          <a:xfrm xmlns:a="http://schemas.openxmlformats.org/drawingml/2006/main">
            <a:off x="493776" y="969264"/>
            <a:ext cx="11155680" cy="3291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0">
                <a:solidFill>
                  <a:srgbClr val="60727C"/>
                </a:solidFill>
                <a:latin typeface="Arial"/>
                <a:ea typeface="Arial"/>
                <a:cs typeface="Arial"/>
              </a:rPr>
              <a:t>Hosted checks protect builds; a guarded self-hosted runner updates Minikube.</a:t>
            </a:r>
          </a:p>
        </p:txBody>
      </p:sp>
      <p:sp>
        <p:nvSpPr>
          <p:cNvPr id="5" name="Rounded Rectangle 4">
            <a:extLst xmlns:a="http://schemas.openxmlformats.org/drawingml/2006/main">
              <a:ext uri="{FF2B5EF4-FFF2-40B4-BE49-F238E27FC236}">
                <a16:creationId xmlns:a16="http://schemas.microsoft.com/office/drawing/2014/main" id="{1D0D7302-1F3F-45B5-ABAC-280293ED55E6}"/>
              </a:ext>
            </a:extLst>
          </p:cNvPr>
          <p:cNvSpPr>
            <a:spLocks xmlns:a="http://schemas.openxmlformats.org/drawingml/2006/main" noGrp="1"/>
          </p:cNvSpPr>
          <p:nvPr/>
        </p:nvSpPr>
        <p:spPr>
          <a:xfrm xmlns:a="http://schemas.openxmlformats.org/drawingml/2006/main">
            <a:off x="475488" y="1591056"/>
            <a:ext cx="2194560" cy="768096"/>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Push</a:t>
            </a:r>
          </a:p>
        </p:txBody>
      </p:sp>
      <p:sp>
        <p:nvSpPr>
          <p:cNvPr id="6" name="Rounded Rectangle 5">
            <a:extLst xmlns:a="http://schemas.openxmlformats.org/drawingml/2006/main">
              <a:ext uri="{FF2B5EF4-FFF2-40B4-BE49-F238E27FC236}">
                <a16:creationId xmlns:a16="http://schemas.microsoft.com/office/drawing/2014/main" id="{E1EEC67E-ED34-43E2-B7FD-BD5EE97253F7}"/>
              </a:ext>
            </a:extLst>
          </p:cNvPr>
          <p:cNvSpPr>
            <a:spLocks xmlns:a="http://schemas.openxmlformats.org/drawingml/2006/main" noGrp="1"/>
          </p:cNvSpPr>
          <p:nvPr/>
        </p:nvSpPr>
        <p:spPr>
          <a:xfrm xmlns:a="http://schemas.openxmlformats.org/drawingml/2006/main">
            <a:off x="3246120" y="1591056"/>
            <a:ext cx="2194560" cy="768096"/>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Lint ∥ test</a:t>
            </a:r>
          </a:p>
        </p:txBody>
      </p:sp>
      <p:sp>
        <p:nvSpPr>
          <p:cNvPr id="7" name="Rounded Rectangle 6">
            <a:extLst xmlns:a="http://schemas.openxmlformats.org/drawingml/2006/main">
              <a:ext uri="{FF2B5EF4-FFF2-40B4-BE49-F238E27FC236}">
                <a16:creationId xmlns:a16="http://schemas.microsoft.com/office/drawing/2014/main" id="{94A39DAA-BCF3-407A-A455-95B94D8B85F9}"/>
              </a:ext>
            </a:extLst>
          </p:cNvPr>
          <p:cNvSpPr>
            <a:spLocks xmlns:a="http://schemas.openxmlformats.org/drawingml/2006/main" noGrp="1"/>
          </p:cNvSpPr>
          <p:nvPr/>
        </p:nvSpPr>
        <p:spPr>
          <a:xfrm xmlns:a="http://schemas.openxmlformats.org/drawingml/2006/main">
            <a:off x="6016752" y="1591056"/>
            <a:ext cx="2194560" cy="768096"/>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Build image</a:t>
            </a:r>
            <a:br>
              <a:rPr sz="1500" b="1">
                <a:solidFill>
                  <a:srgbClr val="18313F"/>
                </a:solidFill>
                <a:latin typeface="Arial"/>
                <a:ea typeface="Arial"/>
                <a:cs typeface="Arial"/>
              </a:rPr>
            </a:br>
            <a:r>
              <a:rPr sz="1500" b="1">
                <a:solidFill>
                  <a:srgbClr val="18313F"/>
                </a:solidFill>
                <a:latin typeface="Arial"/>
                <a:ea typeface="Arial"/>
                <a:cs typeface="Arial"/>
              </a:rPr>
              <a:t>Trivy + SBOM</a:t>
            </a:r>
          </a:p>
        </p:txBody>
      </p:sp>
      <p:sp>
        <p:nvSpPr>
          <p:cNvPr id="8" name="Rounded Rectangle 7">
            <a:extLst xmlns:a="http://schemas.openxmlformats.org/drawingml/2006/main">
              <a:ext uri="{FF2B5EF4-FFF2-40B4-BE49-F238E27FC236}">
                <a16:creationId xmlns:a16="http://schemas.microsoft.com/office/drawing/2014/main" id="{165F402D-56F3-49A2-A4E0-13433A37D063}"/>
              </a:ext>
            </a:extLst>
          </p:cNvPr>
          <p:cNvSpPr>
            <a:spLocks xmlns:a="http://schemas.openxmlformats.org/drawingml/2006/main" noGrp="1"/>
          </p:cNvSpPr>
          <p:nvPr/>
        </p:nvSpPr>
        <p:spPr>
          <a:xfrm xmlns:a="http://schemas.openxmlformats.org/drawingml/2006/main">
            <a:off x="8787384" y="1591056"/>
            <a:ext cx="2194560" cy="768096"/>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Push to GHCR</a:t>
            </a:r>
          </a:p>
        </p:txBody>
      </p:sp>
      <p:sp>
        <p:nvSpPr>
          <p:cNvPr id="9" name="Connector 8">
            <a:extLst xmlns:a="http://schemas.openxmlformats.org/drawingml/2006/main">
              <a:ext uri="{FF2B5EF4-FFF2-40B4-BE49-F238E27FC236}">
                <a16:creationId xmlns:a16="http://schemas.microsoft.com/office/drawing/2014/main" id="{BF670F80-3639-4A32-B0C7-5589737A7E1A}"/>
              </a:ext>
            </a:extLst>
          </p:cNvPr>
          <p:cNvSpPr>
            <a:spLocks xmlns:a="http://schemas.openxmlformats.org/drawingml/2006/main" noGrp="1"/>
          </p:cNvSpPr>
          <p:nvPr/>
        </p:nvSpPr>
        <p:spPr>
          <a:xfrm xmlns:a="http://schemas.openxmlformats.org/drawingml/2006/main">
            <a:off x="2724912" y="1975104"/>
            <a:ext cx="475488"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24A943A0-F859-4348-8F0A-CEBB36E6575B}"/>
              </a:ext>
            </a:extLst>
          </p:cNvPr>
          <p:cNvSpPr>
            <a:spLocks xmlns:a="http://schemas.openxmlformats.org/drawingml/2006/main" noGrp="1"/>
          </p:cNvSpPr>
          <p:nvPr/>
        </p:nvSpPr>
        <p:spPr>
          <a:xfrm xmlns:a="http://schemas.openxmlformats.org/drawingml/2006/main">
            <a:off x="5495544" y="1975104"/>
            <a:ext cx="475487"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FE1C1916-9EB9-4857-B918-EEB14E98B79B}"/>
              </a:ext>
            </a:extLst>
          </p:cNvPr>
          <p:cNvSpPr>
            <a:spLocks xmlns:a="http://schemas.openxmlformats.org/drawingml/2006/main" noGrp="1"/>
          </p:cNvSpPr>
          <p:nvPr/>
        </p:nvSpPr>
        <p:spPr>
          <a:xfrm xmlns:a="http://schemas.openxmlformats.org/drawingml/2006/main">
            <a:off x="8266175" y="1975104"/>
            <a:ext cx="475488" cy="0"/>
          </a:xfrm>
          <a:prstGeom xmlns:a="http://schemas.openxmlformats.org/drawingml/2006/main" prst="line">
            <a:avLst/>
          </a:prstGeom>
          <a:ln xmlns:a="http://schemas.openxmlformats.org/drawingml/2006/main" w="2286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DD0AFC93-92FE-4CC2-AFCF-58ADA1DD9AC1}"/>
              </a:ext>
            </a:extLst>
          </p:cNvPr>
          <p:cNvSpPr>
            <a:spLocks xmlns:a="http://schemas.openxmlformats.org/drawingml/2006/main" noGrp="1"/>
          </p:cNvSpPr>
          <p:nvPr/>
        </p:nvSpPr>
        <p:spPr>
          <a:xfrm xmlns:a="http://schemas.openxmlformats.org/drawingml/2006/main">
            <a:off x="502920" y="1307592"/>
            <a:ext cx="301752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200" b="1">
                <a:solidFill>
                  <a:srgbClr val="1A8C8C"/>
                </a:solidFill>
                <a:latin typeface="Arial"/>
                <a:ea typeface="Arial"/>
                <a:cs typeface="Arial"/>
              </a:rPr>
              <a:t>GITHUB-HOSTED RUNNERS</a:t>
            </a:r>
          </a:p>
        </p:txBody>
      </p:sp>
      <p:sp>
        <p:nvSpPr>
          <p:cNvPr id="13" name="Rounded Rectangle 12">
            <a:extLst xmlns:a="http://schemas.openxmlformats.org/drawingml/2006/main">
              <a:ext uri="{FF2B5EF4-FFF2-40B4-BE49-F238E27FC236}">
                <a16:creationId xmlns:a16="http://schemas.microsoft.com/office/drawing/2014/main" id="{13D3CFB3-8EDB-40EF-A133-0C6DE353534F}"/>
              </a:ext>
            </a:extLst>
          </p:cNvPr>
          <p:cNvSpPr>
            <a:spLocks xmlns:a="http://schemas.openxmlformats.org/drawingml/2006/main" noGrp="1"/>
          </p:cNvSpPr>
          <p:nvPr/>
        </p:nvSpPr>
        <p:spPr>
          <a:xfrm xmlns:a="http://schemas.openxmlformats.org/drawingml/2006/main">
            <a:off x="475488" y="2852928"/>
            <a:ext cx="2194560" cy="822960"/>
          </a:xfrm>
          <a:prstGeom xmlns:a="http://schemas.openxmlformats.org/drawingml/2006/main" prst="roundRect">
            <a:avLst/>
          </a:prstGeom>
          <a:solidFill xmlns:a="http://schemas.openxmlformats.org/drawingml/2006/main">
            <a:srgbClr val="FFF7E9"/>
          </a:solidFill>
          <a:ln xmlns:a="http://schemas.openxmlformats.org/drawingml/2006/main" w="14604">
            <a:solidFill>
              <a:srgbClr val="C07A1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Preflight +</a:t>
            </a:r>
            <a:br>
              <a:rPr sz="1500" b="1">
                <a:solidFill>
                  <a:srgbClr val="18313F"/>
                </a:solidFill>
                <a:latin typeface="Arial"/>
                <a:ea typeface="Arial"/>
                <a:cs typeface="Arial"/>
              </a:rPr>
            </a:br>
            <a:r>
              <a:rPr sz="1500" b="1">
                <a:solidFill>
                  <a:srgbClr val="18313F"/>
                </a:solidFill>
                <a:latin typeface="Arial"/>
                <a:ea typeface="Arial"/>
                <a:cs typeface="Arial"/>
              </a:rPr>
              <a:t>context guard</a:t>
            </a:r>
          </a:p>
        </p:txBody>
      </p:sp>
      <p:sp>
        <p:nvSpPr>
          <p:cNvPr id="14" name="Rounded Rectangle 13">
            <a:extLst xmlns:a="http://schemas.openxmlformats.org/drawingml/2006/main">
              <a:ext uri="{FF2B5EF4-FFF2-40B4-BE49-F238E27FC236}">
                <a16:creationId xmlns:a16="http://schemas.microsoft.com/office/drawing/2014/main" id="{D8CEFDCC-CDB1-45E5-9D6A-09D57ACE7D32}"/>
              </a:ext>
            </a:extLst>
          </p:cNvPr>
          <p:cNvSpPr>
            <a:spLocks xmlns:a="http://schemas.openxmlformats.org/drawingml/2006/main" noGrp="1"/>
          </p:cNvSpPr>
          <p:nvPr/>
        </p:nvSpPr>
        <p:spPr>
          <a:xfrm xmlns:a="http://schemas.openxmlformats.org/drawingml/2006/main">
            <a:off x="3246120" y="2852928"/>
            <a:ext cx="2194560" cy="822960"/>
          </a:xfrm>
          <a:prstGeom xmlns:a="http://schemas.openxmlformats.org/drawingml/2006/main" prst="roundRect">
            <a:avLst/>
          </a:prstGeom>
          <a:solidFill xmlns:a="http://schemas.openxmlformats.org/drawingml/2006/main">
            <a:srgbClr val="FFF7E9"/>
          </a:solidFill>
          <a:ln xmlns:a="http://schemas.openxmlformats.org/drawingml/2006/main" w="14604">
            <a:solidFill>
              <a:srgbClr val="C07A1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Verify image</a:t>
            </a:r>
            <a:br>
              <a:rPr sz="1500" b="1">
                <a:solidFill>
                  <a:srgbClr val="18313F"/>
                </a:solidFill>
                <a:latin typeface="Arial"/>
                <a:ea typeface="Arial"/>
                <a:cs typeface="Arial"/>
              </a:rPr>
            </a:br>
            <a:r>
              <a:rPr sz="1500" b="1">
                <a:solidFill>
                  <a:srgbClr val="18313F"/>
                </a:solidFill>
                <a:latin typeface="Arial"/>
                <a:ea typeface="Arial"/>
                <a:cs typeface="Arial"/>
              </a:rPr>
              <a:t>digest</a:t>
            </a:r>
          </a:p>
        </p:txBody>
      </p:sp>
      <p:sp>
        <p:nvSpPr>
          <p:cNvPr id="15" name="Rounded Rectangle 14">
            <a:extLst xmlns:a="http://schemas.openxmlformats.org/drawingml/2006/main">
              <a:ext uri="{FF2B5EF4-FFF2-40B4-BE49-F238E27FC236}">
                <a16:creationId xmlns:a16="http://schemas.microsoft.com/office/drawing/2014/main" id="{490FA8DF-A910-40AE-BE49-E28A2447984A}"/>
              </a:ext>
            </a:extLst>
          </p:cNvPr>
          <p:cNvSpPr>
            <a:spLocks xmlns:a="http://schemas.openxmlformats.org/drawingml/2006/main" noGrp="1"/>
          </p:cNvSpPr>
          <p:nvPr/>
        </p:nvSpPr>
        <p:spPr>
          <a:xfrm xmlns:a="http://schemas.openxmlformats.org/drawingml/2006/main">
            <a:off x="6016752" y="2852928"/>
            <a:ext cx="2194560" cy="822960"/>
          </a:xfrm>
          <a:prstGeom xmlns:a="http://schemas.openxmlformats.org/drawingml/2006/main" prst="roundRect">
            <a:avLst/>
          </a:prstGeom>
          <a:solidFill xmlns:a="http://schemas.openxmlformats.org/drawingml/2006/main">
            <a:srgbClr val="FFF7E9"/>
          </a:solidFill>
          <a:ln xmlns:a="http://schemas.openxmlformats.org/drawingml/2006/main" w="14604">
            <a:solidFill>
              <a:srgbClr val="C07A1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Load + deploy</a:t>
            </a:r>
            <a:br>
              <a:rPr sz="1500" b="1">
                <a:solidFill>
                  <a:srgbClr val="18313F"/>
                </a:solidFill>
                <a:latin typeface="Arial"/>
                <a:ea typeface="Arial"/>
                <a:cs typeface="Arial"/>
              </a:rPr>
            </a:br>
            <a:r>
              <a:rPr sz="1500" b="1">
                <a:solidFill>
                  <a:srgbClr val="18313F"/>
                </a:solidFill>
                <a:latin typeface="Arial"/>
                <a:ea typeface="Arial"/>
                <a:cs typeface="Arial"/>
              </a:rPr>
              <a:t>overlay</a:t>
            </a:r>
          </a:p>
        </p:txBody>
      </p:sp>
      <p:sp>
        <p:nvSpPr>
          <p:cNvPr id="16" name="Rounded Rectangle 15">
            <a:extLst xmlns:a="http://schemas.openxmlformats.org/drawingml/2006/main">
              <a:ext uri="{FF2B5EF4-FFF2-40B4-BE49-F238E27FC236}">
                <a16:creationId xmlns:a16="http://schemas.microsoft.com/office/drawing/2014/main" id="{06716EA8-07DB-40DD-99FA-0E1F772CED49}"/>
              </a:ext>
            </a:extLst>
          </p:cNvPr>
          <p:cNvSpPr>
            <a:spLocks xmlns:a="http://schemas.openxmlformats.org/drawingml/2006/main" noGrp="1"/>
          </p:cNvSpPr>
          <p:nvPr/>
        </p:nvSpPr>
        <p:spPr>
          <a:xfrm xmlns:a="http://schemas.openxmlformats.org/drawingml/2006/main">
            <a:off x="8787384" y="2852928"/>
            <a:ext cx="2194560" cy="822960"/>
          </a:xfrm>
          <a:prstGeom xmlns:a="http://schemas.openxmlformats.org/drawingml/2006/main" prst="roundRect">
            <a:avLst/>
          </a:prstGeom>
          <a:solidFill xmlns:a="http://schemas.openxmlformats.org/drawingml/2006/main">
            <a:srgbClr val="FFF7E9"/>
          </a:solidFill>
          <a:ln xmlns:a="http://schemas.openxmlformats.org/drawingml/2006/main" w="14604">
            <a:solidFill>
              <a:srgbClr val="C07A1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Rollout probes</a:t>
            </a:r>
            <a:br>
              <a:rPr sz="1500" b="1">
                <a:solidFill>
                  <a:srgbClr val="18313F"/>
                </a:solidFill>
                <a:latin typeface="Arial"/>
                <a:ea typeface="Arial"/>
                <a:cs typeface="Arial"/>
              </a:rPr>
            </a:br>
            <a:r>
              <a:rPr sz="1500" b="1">
                <a:solidFill>
                  <a:srgbClr val="18313F"/>
                </a:solidFill>
                <a:latin typeface="Arial"/>
                <a:ea typeface="Arial"/>
                <a:cs typeface="Arial"/>
              </a:rPr>
              <a:t>smoke + version</a:t>
            </a:r>
          </a:p>
        </p:txBody>
      </p:sp>
      <p:sp>
        <p:nvSpPr>
          <p:cNvPr id="17" name="Connector 16">
            <a:extLst xmlns:a="http://schemas.openxmlformats.org/drawingml/2006/main">
              <a:ext uri="{FF2B5EF4-FFF2-40B4-BE49-F238E27FC236}">
                <a16:creationId xmlns:a16="http://schemas.microsoft.com/office/drawing/2014/main" id="{9FFCB102-9913-446F-8837-4E43C1BCF14A}"/>
              </a:ext>
            </a:extLst>
          </p:cNvPr>
          <p:cNvSpPr>
            <a:spLocks xmlns:a="http://schemas.openxmlformats.org/drawingml/2006/main" noGrp="1"/>
          </p:cNvSpPr>
          <p:nvPr/>
        </p:nvSpPr>
        <p:spPr>
          <a:xfrm xmlns:a="http://schemas.openxmlformats.org/drawingml/2006/main">
            <a:off x="2724912" y="3264408"/>
            <a:ext cx="475488" cy="0"/>
          </a:xfrm>
          <a:prstGeom xmlns:a="http://schemas.openxmlformats.org/drawingml/2006/main" prst="line">
            <a:avLst/>
          </a:prstGeom>
          <a:ln xmlns:a="http://schemas.openxmlformats.org/drawingml/2006/main" w="22860">
            <a:solidFill>
              <a:srgbClr val="C07A1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AF9F23C-BC54-41D9-9015-E4A7AA91521F}"/>
              </a:ext>
            </a:extLst>
          </p:cNvPr>
          <p:cNvSpPr>
            <a:spLocks xmlns:a="http://schemas.openxmlformats.org/drawingml/2006/main" noGrp="1"/>
          </p:cNvSpPr>
          <p:nvPr/>
        </p:nvSpPr>
        <p:spPr>
          <a:xfrm xmlns:a="http://schemas.openxmlformats.org/drawingml/2006/main">
            <a:off x="5495544" y="3264408"/>
            <a:ext cx="475487" cy="0"/>
          </a:xfrm>
          <a:prstGeom xmlns:a="http://schemas.openxmlformats.org/drawingml/2006/main" prst="line">
            <a:avLst/>
          </a:prstGeom>
          <a:ln xmlns:a="http://schemas.openxmlformats.org/drawingml/2006/main" w="22860">
            <a:solidFill>
              <a:srgbClr val="C07A1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E5398A1-5172-4B64-810F-DCD0582F6877}"/>
              </a:ext>
            </a:extLst>
          </p:cNvPr>
          <p:cNvSpPr>
            <a:spLocks xmlns:a="http://schemas.openxmlformats.org/drawingml/2006/main" noGrp="1"/>
          </p:cNvSpPr>
          <p:nvPr/>
        </p:nvSpPr>
        <p:spPr>
          <a:xfrm xmlns:a="http://schemas.openxmlformats.org/drawingml/2006/main">
            <a:off x="8266175" y="3264408"/>
            <a:ext cx="475488" cy="0"/>
          </a:xfrm>
          <a:prstGeom xmlns:a="http://schemas.openxmlformats.org/drawingml/2006/main" prst="line">
            <a:avLst/>
          </a:prstGeom>
          <a:ln xmlns:a="http://schemas.openxmlformats.org/drawingml/2006/main" w="22860">
            <a:solidFill>
              <a:srgbClr val="C07A1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80A9BCBE-A599-4091-A264-793A46384E54}"/>
              </a:ext>
            </a:extLst>
          </p:cNvPr>
          <p:cNvSpPr>
            <a:spLocks xmlns:a="http://schemas.openxmlformats.org/drawingml/2006/main" noGrp="1"/>
          </p:cNvSpPr>
          <p:nvPr/>
        </p:nvSpPr>
        <p:spPr>
          <a:xfrm xmlns:a="http://schemas.openxmlformats.org/drawingml/2006/main">
            <a:off x="9893808" y="2359152"/>
            <a:ext cx="0" cy="301752"/>
          </a:xfrm>
          <a:prstGeom xmlns:a="http://schemas.openxmlformats.org/drawingml/2006/main" prst="line">
            <a:avLst/>
          </a:prstGeom>
          <a:ln xmlns:a="http://schemas.openxmlformats.org/drawingml/2006/main" w="16510">
            <a:solidFill>
              <a:srgbClr val="60727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3CAE93F-0D45-494C-A07E-F2FADD346759}"/>
              </a:ext>
            </a:extLst>
          </p:cNvPr>
          <p:cNvSpPr>
            <a:spLocks xmlns:a="http://schemas.openxmlformats.org/drawingml/2006/main" noGrp="1"/>
          </p:cNvSpPr>
          <p:nvPr/>
        </p:nvSpPr>
        <p:spPr>
          <a:xfrm xmlns:a="http://schemas.openxmlformats.org/drawingml/2006/main" flipH="1">
            <a:off x="1572768" y="2660904"/>
            <a:ext cx="8321040" cy="0"/>
          </a:xfrm>
          <a:prstGeom xmlns:a="http://schemas.openxmlformats.org/drawingml/2006/main" prst="line">
            <a:avLst/>
          </a:prstGeom>
          <a:ln xmlns:a="http://schemas.openxmlformats.org/drawingml/2006/main" w="16510">
            <a:solidFill>
              <a:srgbClr val="60727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EBA2FAF4-AB50-4AAD-93D2-8B9F74406BE6}"/>
              </a:ext>
            </a:extLst>
          </p:cNvPr>
          <p:cNvSpPr>
            <a:spLocks xmlns:a="http://schemas.openxmlformats.org/drawingml/2006/main" noGrp="1"/>
          </p:cNvSpPr>
          <p:nvPr/>
        </p:nvSpPr>
        <p:spPr>
          <a:xfrm xmlns:a="http://schemas.openxmlformats.org/drawingml/2006/main">
            <a:off x="1572768" y="2660904"/>
            <a:ext cx="0" cy="192024"/>
          </a:xfrm>
          <a:prstGeom xmlns:a="http://schemas.openxmlformats.org/drawingml/2006/main" prst="line">
            <a:avLst/>
          </a:prstGeom>
          <a:ln xmlns:a="http://schemas.openxmlformats.org/drawingml/2006/main" w="16510">
            <a:solidFill>
              <a:srgbClr val="60727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3" name="Rounded Rectangle 22">
            <a:extLst xmlns:a="http://schemas.openxmlformats.org/drawingml/2006/main">
              <a:ext uri="{FF2B5EF4-FFF2-40B4-BE49-F238E27FC236}">
                <a16:creationId xmlns:a16="http://schemas.microsoft.com/office/drawing/2014/main" id="{CD2FCC12-01AB-4DAA-BDA0-DEC4919D8801}"/>
              </a:ext>
            </a:extLst>
          </p:cNvPr>
          <p:cNvSpPr>
            <a:spLocks xmlns:a="http://schemas.openxmlformats.org/drawingml/2006/main" noGrp="1"/>
          </p:cNvSpPr>
          <p:nvPr/>
        </p:nvSpPr>
        <p:spPr>
          <a:xfrm xmlns:a="http://schemas.openxmlformats.org/drawingml/2006/main">
            <a:off x="6446520" y="3913632"/>
            <a:ext cx="2240280" cy="566928"/>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PASS → deployed</a:t>
            </a:r>
          </a:p>
        </p:txBody>
      </p:sp>
      <p:sp>
        <p:nvSpPr>
          <p:cNvPr id="24" name="Rounded Rectangle 23">
            <a:extLst xmlns:a="http://schemas.openxmlformats.org/drawingml/2006/main">
              <a:ext uri="{FF2B5EF4-FFF2-40B4-BE49-F238E27FC236}">
                <a16:creationId xmlns:a16="http://schemas.microsoft.com/office/drawing/2014/main" id="{64EDA40C-F451-4B26-B0BC-96EB1548947D}"/>
              </a:ext>
            </a:extLst>
          </p:cNvPr>
          <p:cNvSpPr>
            <a:spLocks xmlns:a="http://schemas.openxmlformats.org/drawingml/2006/main" noGrp="1"/>
          </p:cNvSpPr>
          <p:nvPr/>
        </p:nvSpPr>
        <p:spPr>
          <a:xfrm xmlns:a="http://schemas.openxmlformats.org/drawingml/2006/main">
            <a:off x="9006840" y="3840480"/>
            <a:ext cx="2331720" cy="713232"/>
          </a:xfrm>
          <a:prstGeom xmlns:a="http://schemas.openxmlformats.org/drawingml/2006/main" prst="roundRect">
            <a:avLst/>
          </a:prstGeom>
          <a:solidFill xmlns:a="http://schemas.openxmlformats.org/drawingml/2006/main">
            <a:srgbClr val="FFF2E1"/>
          </a:solidFill>
          <a:ln xmlns:a="http://schemas.openxmlformats.org/drawingml/2006/main" w="14604">
            <a:solidFill>
              <a:srgbClr val="C07A1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400" b="1">
                <a:solidFill>
                  <a:srgbClr val="18313F"/>
                </a:solidFill>
                <a:latin typeface="Arial"/>
                <a:ea typeface="Arial"/>
                <a:cs typeface="Arial"/>
              </a:rPr>
              <a:t>FAIL → automatic undo</a:t>
            </a:r>
            <a:br>
              <a:rPr sz="1400" b="1">
                <a:solidFill>
                  <a:srgbClr val="18313F"/>
                </a:solidFill>
                <a:latin typeface="Arial"/>
                <a:ea typeface="Arial"/>
                <a:cs typeface="Arial"/>
              </a:rPr>
            </a:br>
            <a:r>
              <a:rPr sz="1400" b="1">
                <a:solidFill>
                  <a:srgbClr val="18313F"/>
                </a:solidFill>
                <a:latin typeface="Arial"/>
                <a:ea typeface="Arial"/>
                <a:cs typeface="Arial"/>
              </a:rPr>
              <a:t>release job remains red</a:t>
            </a:r>
          </a:p>
        </p:txBody>
      </p:sp>
      <p:sp>
        <p:nvSpPr>
          <p:cNvPr id="25" name="Connector 24">
            <a:extLst xmlns:a="http://schemas.openxmlformats.org/drawingml/2006/main">
              <a:ext uri="{FF2B5EF4-FFF2-40B4-BE49-F238E27FC236}">
                <a16:creationId xmlns:a16="http://schemas.microsoft.com/office/drawing/2014/main" id="{5A66F2A1-8067-4FD0-8A32-4CA1F5571CB7}"/>
              </a:ext>
            </a:extLst>
          </p:cNvPr>
          <p:cNvSpPr>
            <a:spLocks xmlns:a="http://schemas.openxmlformats.org/drawingml/2006/main" noGrp="1"/>
          </p:cNvSpPr>
          <p:nvPr/>
        </p:nvSpPr>
        <p:spPr>
          <a:xfrm xmlns:a="http://schemas.openxmlformats.org/drawingml/2006/main" flipH="1">
            <a:off x="7562088" y="3675887"/>
            <a:ext cx="2587752" cy="237745"/>
          </a:xfrm>
          <a:prstGeom xmlns:a="http://schemas.openxmlformats.org/drawingml/2006/main" prst="line">
            <a:avLst/>
          </a:prstGeom>
          <a:ln xmlns:a="http://schemas.openxmlformats.org/drawingml/2006/main" w="15240">
            <a:solidFill>
              <a:srgbClr val="1A8C8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9A0AC3C9-177D-4FA8-ABB2-57B43A9B9133}"/>
              </a:ext>
            </a:extLst>
          </p:cNvPr>
          <p:cNvSpPr>
            <a:spLocks xmlns:a="http://schemas.openxmlformats.org/drawingml/2006/main" noGrp="1"/>
          </p:cNvSpPr>
          <p:nvPr/>
        </p:nvSpPr>
        <p:spPr>
          <a:xfrm xmlns:a="http://schemas.openxmlformats.org/drawingml/2006/main" flipH="1">
            <a:off x="10149840" y="3675887"/>
            <a:ext cx="640080" cy="164593"/>
          </a:xfrm>
          <a:prstGeom xmlns:a="http://schemas.openxmlformats.org/drawingml/2006/main" prst="line">
            <a:avLst/>
          </a:prstGeom>
          <a:ln xmlns:a="http://schemas.openxmlformats.org/drawingml/2006/main" w="15240">
            <a:solidFill>
              <a:srgbClr val="C07A1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TextBox 26">
            <a:extLst xmlns:a="http://schemas.openxmlformats.org/drawingml/2006/main">
              <a:ext uri="{FF2B5EF4-FFF2-40B4-BE49-F238E27FC236}">
                <a16:creationId xmlns:a16="http://schemas.microsoft.com/office/drawing/2014/main" id="{E4849B22-92F2-4673-88FD-75EAE110C004}"/>
              </a:ext>
            </a:extLst>
          </p:cNvPr>
          <p:cNvSpPr>
            <a:spLocks xmlns:a="http://schemas.openxmlformats.org/drawingml/2006/main" noGrp="1"/>
          </p:cNvSpPr>
          <p:nvPr/>
        </p:nvSpPr>
        <p:spPr>
          <a:xfrm xmlns:a="http://schemas.openxmlformats.org/drawingml/2006/main">
            <a:off x="502920" y="4069080"/>
            <a:ext cx="5303520" cy="2865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1">
                <a:solidFill>
                  <a:srgbClr val="18313F"/>
                </a:solidFill>
                <a:latin typeface="Arial"/>
                <a:ea typeface="Arial"/>
                <a:cs typeface="Arial"/>
              </a:rPr>
              <a:t>Verified workflow run: 5 min 3 s (run 37209744711)</a:t>
            </a:r>
          </a:p>
        </p:txBody>
      </p:sp>
      <p:sp>
        <p:nvSpPr>
          <p:cNvPr id="28" name="Rectangle 27">
            <a:extLst xmlns:a="http://schemas.openxmlformats.org/drawingml/2006/main">
              <a:ext uri="{FF2B5EF4-FFF2-40B4-BE49-F238E27FC236}">
                <a16:creationId xmlns:a16="http://schemas.microsoft.com/office/drawing/2014/main" id="{E255AEEB-ECE6-4AB2-BFEB-BEAB39C27ED6}"/>
              </a:ext>
            </a:extLst>
          </p:cNvPr>
          <p:cNvSpPr>
            <a:spLocks xmlns:a="http://schemas.openxmlformats.org/drawingml/2006/main" noGrp="1"/>
          </p:cNvSpPr>
          <p:nvPr/>
        </p:nvSpPr>
        <p:spPr>
          <a:xfrm xmlns:a="http://schemas.openxmlformats.org/drawingml/2006/main">
            <a:off x="502920" y="4599432"/>
            <a:ext cx="5349240" cy="960120"/>
          </a:xfrm>
          <a:prstGeom xmlns:a="http://schemas.openxmlformats.org/drawingml/2006/main" prst="rect">
            <a:avLst/>
          </a:prstGeom>
          <a:solidFill xmlns:a="http://schemas.openxmlformats.org/drawingml/2006/main">
            <a:srgbClr val="F6F8F9"/>
          </a:solidFill>
          <a:ln xmlns:a="http://schemas.openxmlformats.org/drawingml/2006/main" w="12700">
            <a:solidFill>
              <a:srgbClr val="6072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FA5306F5-1F4D-4D5D-8D7E-7EB3412834A1}"/>
              </a:ext>
            </a:extLst>
          </p:cNvPr>
          <p:cNvSpPr>
            <a:spLocks xmlns:a="http://schemas.openxmlformats.org/drawingml/2006/main" noGrp="1"/>
          </p:cNvSpPr>
          <p:nvPr/>
        </p:nvSpPr>
        <p:spPr>
          <a:xfrm xmlns:a="http://schemas.openxmlformats.org/drawingml/2006/main">
            <a:off x="612648" y="4924044"/>
            <a:ext cx="5129783"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b="1">
                <a:solidFill>
                  <a:srgbClr val="60727C"/>
                </a:solidFill>
                <a:latin typeface="Arial"/>
                <a:ea typeface="Arial"/>
                <a:cs typeface="Arial"/>
              </a:rPr>
              <a:t/>
            </a:r>
          </a:p>
        </p:txBody>
      </p:sp>
      <p:sp>
        <p:nvSpPr>
          <p:cNvPr id="30" name="TextBox 29">
            <a:extLst xmlns:a="http://schemas.openxmlformats.org/drawingml/2006/main">
              <a:ext uri="{FF2B5EF4-FFF2-40B4-BE49-F238E27FC236}">
                <a16:creationId xmlns:a16="http://schemas.microsoft.com/office/drawing/2014/main" id="{C6B912BA-9D9A-4D18-A330-C6FE87F4D1C5}"/>
              </a:ext>
            </a:extLst>
          </p:cNvPr>
          <p:cNvSpPr>
            <a:spLocks xmlns:a="http://schemas.openxmlformats.org/drawingml/2006/main" noGrp="1"/>
          </p:cNvSpPr>
          <p:nvPr/>
        </p:nvSpPr>
        <p:spPr>
          <a:xfrm xmlns:a="http://schemas.openxmlformats.org/drawingml/2006/main">
            <a:off x="502920" y="5577840"/>
            <a:ext cx="534924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1">
                <a:solidFill>
                  <a:srgbClr val="18313F"/>
                </a:solidFill>
                <a:latin typeface="Arial"/>
                <a:ea typeface="Arial"/>
                <a:cs typeface="Arial"/>
              </a:rPr>
              <a:t>Green workflow run</a:t>
            </a:r>
          </a:p>
        </p:txBody>
      </p:sp>
      <p:sp>
        <p:nvSpPr>
          <p:cNvPr id="31" name="Rectangle 30">
            <a:extLst xmlns:a="http://schemas.openxmlformats.org/drawingml/2006/main">
              <a:ext uri="{FF2B5EF4-FFF2-40B4-BE49-F238E27FC236}">
                <a16:creationId xmlns:a16="http://schemas.microsoft.com/office/drawing/2014/main" id="{66CF4974-17B8-4699-8ED8-6C2C8082C9AB}"/>
              </a:ext>
            </a:extLst>
          </p:cNvPr>
          <p:cNvSpPr>
            <a:spLocks xmlns:a="http://schemas.openxmlformats.org/drawingml/2006/main" noGrp="1"/>
          </p:cNvSpPr>
          <p:nvPr/>
        </p:nvSpPr>
        <p:spPr>
          <a:xfrm xmlns:a="http://schemas.openxmlformats.org/drawingml/2006/main">
            <a:off x="6309360" y="4599432"/>
            <a:ext cx="5349240" cy="960120"/>
          </a:xfrm>
          <a:prstGeom xmlns:a="http://schemas.openxmlformats.org/drawingml/2006/main" prst="rect">
            <a:avLst/>
          </a:prstGeom>
          <a:solidFill xmlns:a="http://schemas.openxmlformats.org/drawingml/2006/main">
            <a:srgbClr val="F6F8F9"/>
          </a:solidFill>
          <a:ln xmlns:a="http://schemas.openxmlformats.org/drawingml/2006/main" w="12700">
            <a:solidFill>
              <a:srgbClr val="6072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45883C39-8BB0-495C-A610-FF1DD7A7624C}"/>
              </a:ext>
            </a:extLst>
          </p:cNvPr>
          <p:cNvSpPr>
            <a:spLocks xmlns:a="http://schemas.openxmlformats.org/drawingml/2006/main" noGrp="1"/>
          </p:cNvSpPr>
          <p:nvPr/>
        </p:nvSpPr>
        <p:spPr>
          <a:xfrm xmlns:a="http://schemas.openxmlformats.org/drawingml/2006/main">
            <a:off x="6419088" y="4924044"/>
            <a:ext cx="5129783"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b="1">
                <a:solidFill>
                  <a:srgbClr val="60727C"/>
                </a:solidFill>
                <a:latin typeface="Arial"/>
                <a:ea typeface="Arial"/>
                <a:cs typeface="Arial"/>
              </a:rPr>
              <a:t/>
            </a:r>
          </a:p>
        </p:txBody>
      </p:sp>
      <p:sp>
        <p:nvSpPr>
          <p:cNvPr id="33" name="TextBox 32">
            <a:extLst xmlns:a="http://schemas.openxmlformats.org/drawingml/2006/main">
              <a:ext uri="{FF2B5EF4-FFF2-40B4-BE49-F238E27FC236}">
                <a16:creationId xmlns:a16="http://schemas.microsoft.com/office/drawing/2014/main" id="{0F50087C-A281-4FEC-941E-5A6C701771CC}"/>
              </a:ext>
            </a:extLst>
          </p:cNvPr>
          <p:cNvSpPr>
            <a:spLocks xmlns:a="http://schemas.openxmlformats.org/drawingml/2006/main" noGrp="1"/>
          </p:cNvSpPr>
          <p:nvPr/>
        </p:nvSpPr>
        <p:spPr>
          <a:xfrm xmlns:a="http://schemas.openxmlformats.org/drawingml/2006/main">
            <a:off x="6309360" y="5577840"/>
            <a:ext cx="534924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1">
                <a:solidFill>
                  <a:srgbClr val="18313F"/>
                </a:solidFill>
                <a:latin typeface="Arial"/>
                <a:ea typeface="Arial"/>
                <a:cs typeface="Arial"/>
              </a:rPr>
              <a:t>Failed release with automatic rollback</a:t>
            </a:r>
          </a:p>
        </p:txBody>
      </p:sp>
      <p:sp>
        <p:nvSpPr>
          <p:cNvPr id="34" name="TextBox 33">
            <a:extLst xmlns:a="http://schemas.openxmlformats.org/drawingml/2006/main">
              <a:ext uri="{FF2B5EF4-FFF2-40B4-BE49-F238E27FC236}">
                <a16:creationId xmlns:a16="http://schemas.microsoft.com/office/drawing/2014/main" id="{97DB27D0-60C9-4364-BF60-9AD17CEF89E5}"/>
              </a:ext>
            </a:extLst>
          </p:cNvPr>
          <p:cNvSpPr>
            <a:spLocks xmlns:a="http://schemas.openxmlformats.org/drawingml/2006/main" noGrp="1"/>
          </p:cNvSpPr>
          <p:nvPr/>
        </p:nvSpPr>
        <p:spPr>
          <a:xfrm xmlns:a="http://schemas.openxmlformats.org/drawingml/2006/main">
            <a:off x="502920" y="6510528"/>
            <a:ext cx="9875520" cy="1874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defRPr sz="750">
                <a:solidFill>
                  <a:srgbClr val="60727C"/>
                </a:solidFill>
              </a:defRPr>
            </a:defPPr>
            <a:lvl1pPr>
              <a:buNone/>
              <a:defRPr sz="750">
                <a:solidFill>
                  <a:srgbClr val="60727C"/>
                </a:solidFill>
              </a:defRPr>
            </a:lvl1pPr>
            <a:lvl2pPr>
              <a:buNone/>
              <a:defRPr sz="750">
                <a:solidFill>
                  <a:srgbClr val="60727C"/>
                </a:solidFill>
              </a:defRPr>
            </a:lvl2pPr>
            <a:lvl3pPr>
              <a:buNone/>
              <a:defRPr sz="750">
                <a:solidFill>
                  <a:srgbClr val="60727C"/>
                </a:solidFill>
              </a:defRPr>
            </a:lvl3pPr>
            <a:lvl4pPr>
              <a:buNone/>
              <a:defRPr sz="750">
                <a:solidFill>
                  <a:srgbClr val="60727C"/>
                </a:solidFill>
              </a:defRPr>
            </a:lvl4pPr>
            <a:lvl5pPr>
              <a:buNone/>
              <a:defRPr sz="750">
                <a:solidFill>
                  <a:srgbClr val="60727C"/>
                </a:solidFill>
              </a:defRPr>
            </a:lvl5pPr>
            <a:lvl6pPr>
              <a:buNone/>
              <a:defRPr sz="750">
                <a:solidFill>
                  <a:srgbClr val="60727C"/>
                </a:solidFill>
              </a:defRPr>
            </a:lvl6pPr>
            <a:lvl7pPr>
              <a:buNone/>
              <a:defRPr sz="750">
                <a:solidFill>
                  <a:srgbClr val="60727C"/>
                </a:solidFill>
              </a:defRPr>
            </a:lvl7pPr>
            <a:lvl8pPr>
              <a:buNone/>
              <a:defRPr sz="750">
                <a:solidFill>
                  <a:srgbClr val="60727C"/>
                </a:solidFill>
              </a:defRPr>
            </a:lvl8pPr>
            <a:lvl9pPr>
              <a:buNone/>
              <a:defRPr sz="750">
                <a:solidFill>
                  <a:srgbClr val="60727C"/>
                </a:solidFill>
              </a:defRPr>
            </a:lvl9pPr>
          </a:lstStyle>
          <a:p xmlns:a="http://schemas.openxmlformats.org/drawingml/2006/main">
            <a:pPr>
              <a:buNone/>
              <a:defRPr sz="750">
                <a:solidFill>
                  <a:srgbClr val="60727C"/>
                </a:solidFill>
              </a:defRPr>
            </a:pPr>
            <a:r>
              <a:rPr sz="750" b="0">
                <a:solidFill>
                  <a:srgbClr val="60727C"/>
                </a:solidFill>
                <a:latin typeface="Arial"/>
                <a:ea typeface="Arial"/>
                <a:cs typeface="Arial"/>
              </a:rPr>
              <a:t>Harsh Ledwani (23070122100)  |  Shivam Kapure (23070122113)  |  Kashyup Gaud (23070122114)  |  Kisna Kanti (23070122116)</a:t>
            </a:r>
          </a:p>
        </p:txBody>
      </p:sp>
      <p:sp>
        <p:nvSpPr>
          <p:cNvPr id="35" name="TextBox 34">
            <a:extLst xmlns:a="http://schemas.openxmlformats.org/drawingml/2006/main">
              <a:ext uri="{FF2B5EF4-FFF2-40B4-BE49-F238E27FC236}">
                <a16:creationId xmlns:a16="http://schemas.microsoft.com/office/drawing/2014/main" id="{02E625D3-2042-4035-A5AD-00A633147FDE}"/>
              </a:ext>
            </a:extLst>
          </p:cNvPr>
          <p:cNvSpPr>
            <a:spLocks xmlns:a="http://schemas.openxmlformats.org/drawingml/2006/main" noGrp="1"/>
          </p:cNvSpPr>
          <p:nvPr/>
        </p:nvSpPr>
        <p:spPr>
          <a:xfrm xmlns:a="http://schemas.openxmlformats.org/drawingml/2006/main">
            <a:off x="11201400" y="6492240"/>
            <a:ext cx="411480" cy="1828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00" b="0">
                <a:solidFill>
                  <a:srgbClr val="60727C"/>
                </a:solidFill>
                <a:latin typeface="Arial"/>
                <a:ea typeface="Arial"/>
                <a:cs typeface="Arial"/>
              </a:rPr>
              <a:t>2</a:t>
            </a:r>
          </a:p>
        </p:txBody>
      </p:sp>
      <p:pic>
        <p:nvPicPr>
          <p:cNvPr id="36" name="">
            <a:extLst xmlns:a="http://schemas.openxmlformats.org/drawingml/2006/main">
              <a:ext uri="{FF2B5EF4-FFF2-40B4-BE49-F238E27FC236}">
                <a16:creationId xmlns:a16="http://schemas.microsoft.com/office/drawing/2014/main" id="{67C910AA-FBF2-4386-A6B5-35C1F859EFA8}"/>
              </a:ext>
            </a:extLst>
          </p:cNvPr>
          <p:cNvPicPr>
            <a:picLocks xmlns:a="http://schemas.openxmlformats.org/drawingml/2006/main" noChangeAspect="1"/>
          </p:cNvPicPr>
          <p:nvPr/>
        </p:nvPicPr>
        <p:blipFill>
          <a:blip xmlns:r="http://schemas.openxmlformats.org/officeDocument/2006/relationships" xmlns:a="http://schemas.openxmlformats.org/drawingml/2006/main" r:embed="R436fb6b623cd42e3"/>
          <a:stretch xmlns:a="http://schemas.openxmlformats.org/drawingml/2006/main"/>
        </p:blipFill>
        <p:spPr>
          <a:xfrm xmlns:a="http://schemas.openxmlformats.org/drawingml/2006/main">
            <a:off x="2326742" y="4600575"/>
            <a:ext cx="1709216" cy="962025"/>
          </a:xfrm>
          <a:prstGeom xmlns:a="http://schemas.openxmlformats.org/drawingml/2006/main" prst="rect">
            <a:avLst/>
          </a:prstGeom>
        </p:spPr>
      </p:pic>
      <p:pic>
        <p:nvPicPr>
          <p:cNvPr id="37" name="">
            <a:extLst xmlns:a="http://schemas.openxmlformats.org/drawingml/2006/main">
              <a:ext uri="{FF2B5EF4-FFF2-40B4-BE49-F238E27FC236}">
                <a16:creationId xmlns:a16="http://schemas.microsoft.com/office/drawing/2014/main" id="{32051199-870A-445A-AFCA-45967ADF1D04}"/>
              </a:ext>
            </a:extLst>
          </p:cNvPr>
          <p:cNvPicPr>
            <a:picLocks xmlns:a="http://schemas.openxmlformats.org/drawingml/2006/main" noChangeAspect="1"/>
          </p:cNvPicPr>
          <p:nvPr/>
        </p:nvPicPr>
        <p:blipFill>
          <a:blip xmlns:r="http://schemas.openxmlformats.org/officeDocument/2006/relationships" xmlns:a="http://schemas.openxmlformats.org/drawingml/2006/main" r:embed="R3e666a3f8939440f"/>
          <a:stretch xmlns:a="http://schemas.openxmlformats.org/drawingml/2006/main"/>
        </p:blipFill>
        <p:spPr>
          <a:xfrm xmlns:a="http://schemas.openxmlformats.org/drawingml/2006/main">
            <a:off x="8541247" y="4600575"/>
            <a:ext cx="881656" cy="962025"/>
          </a:xfrm>
          <a:prstGeom xmlns:a="http://schemas.openxmlformats.org/drawingml/2006/main" prst="rect">
            <a:avLst/>
          </a:prstGeom>
        </p:spPr>
      </p:pic>
    </p:spTree>
    <p:extLst>
      <p:ext uri="{BB962C8B-B14F-4D97-AF65-F5344CB8AC3E}">
        <p14:creationId xmlns:p14="http://schemas.microsoft.com/office/powerpoint/2010/main" val="25144961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EB31CF-BA16-4070-AF5F-B2BEB255F0D4}"/>
              </a:ext>
            </a:extLst>
          </p:cNvPr>
          <p:cNvSpPr>
            <a:spLocks xmlns:a="http://schemas.openxmlformats.org/drawingml/2006/main" noGrp="1"/>
          </p:cNvSpPr>
          <p:nvPr/>
        </p:nvSpPr>
        <p:spPr>
          <a:xfrm xmlns:a="http://schemas.openxmlformats.org/drawingml/2006/main">
            <a:off x="475488" y="256032"/>
            <a:ext cx="11155680" cy="4617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lgn="l">
              <a:defRPr sz="2550" b="1">
                <a:solidFill>
                  <a:srgbClr val="172B3A"/>
                </a:solidFill>
                <a:latin typeface="Arial"/>
                <a:ea typeface="Arial"/>
                <a:cs typeface="Arial"/>
              </a:defRPr>
            </a:defPPr>
            <a:lvl1pPr algn="l">
              <a:buNone/>
              <a:defRPr sz="2550" b="1">
                <a:solidFill>
                  <a:srgbClr val="172B3A"/>
                </a:solidFill>
                <a:latin typeface="Arial"/>
                <a:ea typeface="Arial"/>
                <a:cs typeface="Arial"/>
              </a:defRPr>
            </a:lvl1pPr>
            <a:lvl2pPr algn="l">
              <a:buNone/>
              <a:defRPr sz="2550" b="1">
                <a:solidFill>
                  <a:srgbClr val="172B3A"/>
                </a:solidFill>
                <a:latin typeface="Arial"/>
                <a:ea typeface="Arial"/>
                <a:cs typeface="Arial"/>
              </a:defRPr>
            </a:lvl2pPr>
            <a:lvl3pPr algn="l">
              <a:buNone/>
              <a:defRPr sz="2550" b="1">
                <a:solidFill>
                  <a:srgbClr val="172B3A"/>
                </a:solidFill>
                <a:latin typeface="Arial"/>
                <a:ea typeface="Arial"/>
                <a:cs typeface="Arial"/>
              </a:defRPr>
            </a:lvl3pPr>
            <a:lvl4pPr algn="l">
              <a:buNone/>
              <a:defRPr sz="2550" b="1">
                <a:solidFill>
                  <a:srgbClr val="172B3A"/>
                </a:solidFill>
                <a:latin typeface="Arial"/>
                <a:ea typeface="Arial"/>
                <a:cs typeface="Arial"/>
              </a:defRPr>
            </a:lvl4pPr>
            <a:lvl5pPr algn="l">
              <a:buNone/>
              <a:defRPr sz="2550" b="1">
                <a:solidFill>
                  <a:srgbClr val="172B3A"/>
                </a:solidFill>
                <a:latin typeface="Arial"/>
                <a:ea typeface="Arial"/>
                <a:cs typeface="Arial"/>
              </a:defRPr>
            </a:lvl5pPr>
            <a:lvl6pPr algn="l">
              <a:buNone/>
              <a:defRPr sz="2550" b="1">
                <a:solidFill>
                  <a:srgbClr val="172B3A"/>
                </a:solidFill>
                <a:latin typeface="Arial"/>
                <a:ea typeface="Arial"/>
                <a:cs typeface="Arial"/>
              </a:defRPr>
            </a:lvl6pPr>
            <a:lvl7pPr algn="l">
              <a:buNone/>
              <a:defRPr sz="2550" b="1">
                <a:solidFill>
                  <a:srgbClr val="172B3A"/>
                </a:solidFill>
                <a:latin typeface="Arial"/>
                <a:ea typeface="Arial"/>
                <a:cs typeface="Arial"/>
              </a:defRPr>
            </a:lvl7pPr>
            <a:lvl8pPr algn="l">
              <a:buNone/>
              <a:defRPr sz="2550" b="1">
                <a:solidFill>
                  <a:srgbClr val="172B3A"/>
                </a:solidFill>
                <a:latin typeface="Arial"/>
                <a:ea typeface="Arial"/>
                <a:cs typeface="Arial"/>
              </a:defRPr>
            </a:lvl8pPr>
            <a:lvl9pPr algn="l">
              <a:buNone/>
              <a:defRPr sz="2550" b="1">
                <a:solidFill>
                  <a:srgbClr val="172B3A"/>
                </a:solidFill>
                <a:latin typeface="Arial"/>
                <a:ea typeface="Arial"/>
                <a:cs typeface="Arial"/>
              </a:defRPr>
            </a:lvl9pPr>
          </a:lstStyle>
          <a:p xmlns:a="http://schemas.openxmlformats.org/drawingml/2006/main">
            <a:pPr algn="l">
              <a:buNone/>
              <a:defRPr sz="2550" b="1">
                <a:solidFill>
                  <a:srgbClr val="172B3A"/>
                </a:solidFill>
                <a:latin typeface="Arial"/>
                <a:ea typeface="Arial"/>
                <a:cs typeface="Arial"/>
              </a:defRPr>
            </a:pPr>
            <a:r>
              <a:rPr sz="2550" b="1">
                <a:solidFill>
                  <a:srgbClr val="172B3A"/>
                </a:solidFill>
                <a:latin typeface="Arial"/>
                <a:ea typeface="Arial"/>
                <a:cs typeface="Arial"/>
              </a:rPr>
              <a:t>Evidence from deployments and failure scenarios</a:t>
            </a:r>
          </a:p>
        </p:txBody>
      </p:sp>
      <p:sp>
        <p:nvSpPr>
          <p:cNvPr id="3" name="Rectangle 2">
            <a:extLst xmlns:a="http://schemas.openxmlformats.org/drawingml/2006/main">
              <a:ext uri="{FF2B5EF4-FFF2-40B4-BE49-F238E27FC236}">
                <a16:creationId xmlns:a16="http://schemas.microsoft.com/office/drawing/2014/main" id="{CD5D25A6-CCF4-4FAA-B7B7-1DD6C6FB75C8}"/>
              </a:ext>
            </a:extLst>
          </p:cNvPr>
          <p:cNvSpPr>
            <a:spLocks xmlns:a="http://schemas.openxmlformats.org/drawingml/2006/main" noGrp="1"/>
          </p:cNvSpPr>
          <p:nvPr/>
        </p:nvSpPr>
        <p:spPr>
          <a:xfrm xmlns:a="http://schemas.openxmlformats.org/drawingml/2006/main">
            <a:off x="502920" y="896112"/>
            <a:ext cx="749808" cy="54864"/>
          </a:xfrm>
          <a:prstGeom xmlns:a="http://schemas.openxmlformats.org/drawingml/2006/main" prst="rect">
            <a:avLst/>
          </a:prstGeom>
          <a:solidFill xmlns:a="http://schemas.openxmlformats.org/drawingml/2006/main">
            <a:srgbClr val="1A8C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B440B69E-E6B5-46B1-9599-1F921A9C372B}"/>
              </a:ext>
            </a:extLst>
          </p:cNvPr>
          <p:cNvSpPr>
            <a:spLocks xmlns:a="http://schemas.openxmlformats.org/drawingml/2006/main" noGrp="1"/>
          </p:cNvSpPr>
          <p:nvPr/>
        </p:nvSpPr>
        <p:spPr>
          <a:xfrm xmlns:a="http://schemas.openxmlformats.org/drawingml/2006/main">
            <a:off x="493776" y="969264"/>
            <a:ext cx="11155680" cy="2865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0">
                <a:solidFill>
                  <a:srgbClr val="60727C"/>
                </a:solidFill>
                <a:latin typeface="Arial"/>
                <a:ea typeface="Arial"/>
                <a:cs typeface="Arial"/>
              </a:rPr>
              <a:t>Fresh Windows checks; original records and full-size captures accompany this deck.</a:t>
            </a:r>
          </a:p>
        </p:txBody>
      </p:sp>
      <p:sp>
        <p:nvSpPr>
          <p:cNvPr id="5" name="Rectangle 4">
            <a:extLst xmlns:a="http://schemas.openxmlformats.org/drawingml/2006/main">
              <a:ext uri="{FF2B5EF4-FFF2-40B4-BE49-F238E27FC236}">
                <a16:creationId xmlns:a16="http://schemas.microsoft.com/office/drawing/2014/main" id="{9511C8AB-C718-4C42-A970-775E2DD6FBF7}"/>
              </a:ext>
            </a:extLst>
          </p:cNvPr>
          <p:cNvSpPr>
            <a:spLocks xmlns:a="http://schemas.openxmlformats.org/drawingml/2006/main" noGrp="1"/>
          </p:cNvSpPr>
          <p:nvPr/>
        </p:nvSpPr>
        <p:spPr>
          <a:xfrm xmlns:a="http://schemas.openxmlformats.org/drawingml/2006/main">
            <a:off x="548640" y="1572768"/>
            <a:ext cx="5376672" cy="1060704"/>
          </a:xfrm>
          <a:prstGeom xmlns:a="http://schemas.openxmlformats.org/drawingml/2006/main" prst="rect">
            <a:avLst/>
          </a:prstGeom>
          <a:solidFill xmlns:a="http://schemas.openxmlformats.org/drawingml/2006/main">
            <a:srgbClr val="F6F8F9"/>
          </a:solidFill>
          <a:ln xmlns:a="http://schemas.openxmlformats.org/drawingml/2006/main" w="12700">
            <a:solidFill>
              <a:srgbClr val="6072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B4B013F-E05F-41AF-84A5-0FA8D7477184}"/>
              </a:ext>
            </a:extLst>
          </p:cNvPr>
          <p:cNvSpPr>
            <a:spLocks xmlns:a="http://schemas.openxmlformats.org/drawingml/2006/main" noGrp="1"/>
          </p:cNvSpPr>
          <p:nvPr/>
        </p:nvSpPr>
        <p:spPr>
          <a:xfrm xmlns:a="http://schemas.openxmlformats.org/drawingml/2006/main">
            <a:off x="658368" y="1947672"/>
            <a:ext cx="5157216"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b="1">
                <a:solidFill>
                  <a:srgbClr val="60727C"/>
                </a:solidFill>
                <a:latin typeface="Arial"/>
                <a:ea typeface="Arial"/>
                <a:cs typeface="Arial"/>
              </a:rPr>
              <a:t/>
            </a:r>
          </a:p>
        </p:txBody>
      </p:sp>
      <p:sp>
        <p:nvSpPr>
          <p:cNvPr id="7" name="TextBox 6">
            <a:extLst xmlns:a="http://schemas.openxmlformats.org/drawingml/2006/main">
              <a:ext uri="{FF2B5EF4-FFF2-40B4-BE49-F238E27FC236}">
                <a16:creationId xmlns:a16="http://schemas.microsoft.com/office/drawing/2014/main" id="{692938F2-3AD6-4B6A-A884-256A5047C301}"/>
              </a:ext>
            </a:extLst>
          </p:cNvPr>
          <p:cNvSpPr>
            <a:spLocks xmlns:a="http://schemas.openxmlformats.org/drawingml/2006/main" noGrp="1"/>
          </p:cNvSpPr>
          <p:nvPr/>
        </p:nvSpPr>
        <p:spPr>
          <a:xfrm xmlns:a="http://schemas.openxmlformats.org/drawingml/2006/main">
            <a:off x="548640" y="2651760"/>
            <a:ext cx="5376672" cy="2865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1">
                <a:solidFill>
                  <a:srgbClr val="18313F"/>
                </a:solidFill>
                <a:latin typeface="Arial"/>
                <a:ea typeface="Arial"/>
                <a:cs typeface="Arial"/>
              </a:rPr>
              <a:t>Grafana: uptime, latency and error rate</a:t>
            </a:r>
          </a:p>
        </p:txBody>
      </p:sp>
      <p:sp>
        <p:nvSpPr>
          <p:cNvPr id="8" name="Rectangle 7">
            <a:extLst xmlns:a="http://schemas.openxmlformats.org/drawingml/2006/main">
              <a:ext uri="{FF2B5EF4-FFF2-40B4-BE49-F238E27FC236}">
                <a16:creationId xmlns:a16="http://schemas.microsoft.com/office/drawing/2014/main" id="{28D279FA-F375-4C29-A5BF-FA85060813D5}"/>
              </a:ext>
            </a:extLst>
          </p:cNvPr>
          <p:cNvSpPr>
            <a:spLocks xmlns:a="http://schemas.openxmlformats.org/drawingml/2006/main" noGrp="1"/>
          </p:cNvSpPr>
          <p:nvPr/>
        </p:nvSpPr>
        <p:spPr>
          <a:xfrm xmlns:a="http://schemas.openxmlformats.org/drawingml/2006/main">
            <a:off x="6263640" y="1572768"/>
            <a:ext cx="5376672" cy="1060704"/>
          </a:xfrm>
          <a:prstGeom xmlns:a="http://schemas.openxmlformats.org/drawingml/2006/main" prst="rect">
            <a:avLst/>
          </a:prstGeom>
          <a:solidFill xmlns:a="http://schemas.openxmlformats.org/drawingml/2006/main">
            <a:srgbClr val="F6F8F9"/>
          </a:solidFill>
          <a:ln xmlns:a="http://schemas.openxmlformats.org/drawingml/2006/main" w="12700">
            <a:solidFill>
              <a:srgbClr val="6072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3022871-C46F-4661-B8BB-E1968A3A572C}"/>
              </a:ext>
            </a:extLst>
          </p:cNvPr>
          <p:cNvSpPr>
            <a:spLocks xmlns:a="http://schemas.openxmlformats.org/drawingml/2006/main" noGrp="1"/>
          </p:cNvSpPr>
          <p:nvPr/>
        </p:nvSpPr>
        <p:spPr>
          <a:xfrm xmlns:a="http://schemas.openxmlformats.org/drawingml/2006/main">
            <a:off x="6373368" y="1947672"/>
            <a:ext cx="5157216"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b="1">
                <a:solidFill>
                  <a:srgbClr val="60727C"/>
                </a:solidFill>
                <a:latin typeface="Arial"/>
                <a:ea typeface="Arial"/>
                <a:cs typeface="Arial"/>
              </a:rPr>
              <a:t/>
            </a:r>
          </a:p>
        </p:txBody>
      </p:sp>
      <p:sp>
        <p:nvSpPr>
          <p:cNvPr id="10" name="TextBox 9">
            <a:extLst xmlns:a="http://schemas.openxmlformats.org/drawingml/2006/main">
              <a:ext uri="{FF2B5EF4-FFF2-40B4-BE49-F238E27FC236}">
                <a16:creationId xmlns:a16="http://schemas.microsoft.com/office/drawing/2014/main" id="{73D8C6EC-B260-457B-9323-BDEFDC78FF0C}"/>
              </a:ext>
            </a:extLst>
          </p:cNvPr>
          <p:cNvSpPr>
            <a:spLocks xmlns:a="http://schemas.openxmlformats.org/drawingml/2006/main" noGrp="1"/>
          </p:cNvSpPr>
          <p:nvPr/>
        </p:nvSpPr>
        <p:spPr>
          <a:xfrm xmlns:a="http://schemas.openxmlformats.org/drawingml/2006/main">
            <a:off x="6263640" y="2651760"/>
            <a:ext cx="5376672"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1">
                <a:solidFill>
                  <a:srgbClr val="18313F"/>
                </a:solidFill>
                <a:latin typeface="Arial"/>
                <a:ea typeface="Arial"/>
                <a:cs typeface="Arial"/>
              </a:rPr>
              <a:t>Rolling update: v1 and v2 seen; 0 failures</a:t>
            </a:r>
          </a:p>
        </p:txBody>
      </p:sp>
      <p:sp>
        <p:nvSpPr>
          <p:cNvPr id="11" name="Rectangle 10">
            <a:extLst xmlns:a="http://schemas.openxmlformats.org/drawingml/2006/main">
              <a:ext uri="{FF2B5EF4-FFF2-40B4-BE49-F238E27FC236}">
                <a16:creationId xmlns:a16="http://schemas.microsoft.com/office/drawing/2014/main" id="{4F395EA2-718B-41CB-BE9C-20F82BC78FD9}"/>
              </a:ext>
            </a:extLst>
          </p:cNvPr>
          <p:cNvSpPr>
            <a:spLocks xmlns:a="http://schemas.openxmlformats.org/drawingml/2006/main" noGrp="1"/>
          </p:cNvSpPr>
          <p:nvPr/>
        </p:nvSpPr>
        <p:spPr>
          <a:xfrm xmlns:a="http://schemas.openxmlformats.org/drawingml/2006/main">
            <a:off x="548640" y="3172968"/>
            <a:ext cx="5376672" cy="1060704"/>
          </a:xfrm>
          <a:prstGeom xmlns:a="http://schemas.openxmlformats.org/drawingml/2006/main" prst="rect">
            <a:avLst/>
          </a:prstGeom>
          <a:solidFill xmlns:a="http://schemas.openxmlformats.org/drawingml/2006/main">
            <a:srgbClr val="F6F8F9"/>
          </a:solidFill>
          <a:ln xmlns:a="http://schemas.openxmlformats.org/drawingml/2006/main" w="12700">
            <a:solidFill>
              <a:srgbClr val="6072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1B34969-9E30-43C0-BFF0-900EC7D18C54}"/>
              </a:ext>
            </a:extLst>
          </p:cNvPr>
          <p:cNvSpPr>
            <a:spLocks xmlns:a="http://schemas.openxmlformats.org/drawingml/2006/main" noGrp="1"/>
          </p:cNvSpPr>
          <p:nvPr/>
        </p:nvSpPr>
        <p:spPr>
          <a:xfrm xmlns:a="http://schemas.openxmlformats.org/drawingml/2006/main">
            <a:off x="658368" y="3547872"/>
            <a:ext cx="5157216"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b="1">
                <a:solidFill>
                  <a:srgbClr val="60727C"/>
                </a:solidFill>
                <a:latin typeface="Arial"/>
                <a:ea typeface="Arial"/>
                <a:cs typeface="Arial"/>
              </a:rPr>
              <a:t/>
            </a:r>
          </a:p>
        </p:txBody>
      </p:sp>
      <p:sp>
        <p:nvSpPr>
          <p:cNvPr id="13" name="TextBox 12">
            <a:extLst xmlns:a="http://schemas.openxmlformats.org/drawingml/2006/main">
              <a:ext uri="{FF2B5EF4-FFF2-40B4-BE49-F238E27FC236}">
                <a16:creationId xmlns:a16="http://schemas.microsoft.com/office/drawing/2014/main" id="{B740857E-D11A-4937-82D0-2BA8984D2B2F}"/>
              </a:ext>
            </a:extLst>
          </p:cNvPr>
          <p:cNvSpPr>
            <a:spLocks xmlns:a="http://schemas.openxmlformats.org/drawingml/2006/main" noGrp="1"/>
          </p:cNvSpPr>
          <p:nvPr/>
        </p:nvSpPr>
        <p:spPr>
          <a:xfrm xmlns:a="http://schemas.openxmlformats.org/drawingml/2006/main">
            <a:off x="548640" y="4251959"/>
            <a:ext cx="5376672"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1">
                <a:solidFill>
                  <a:srgbClr val="18313F"/>
                </a:solidFill>
                <a:latin typeface="Arial"/>
                <a:ea typeface="Arial"/>
                <a:cs typeface="Arial"/>
              </a:rPr>
              <a:t>CrashLoopBackOff observed, then rollback</a:t>
            </a:r>
          </a:p>
        </p:txBody>
      </p:sp>
      <p:sp>
        <p:nvSpPr>
          <p:cNvPr id="14" name="Rectangle 13">
            <a:extLst xmlns:a="http://schemas.openxmlformats.org/drawingml/2006/main">
              <a:ext uri="{FF2B5EF4-FFF2-40B4-BE49-F238E27FC236}">
                <a16:creationId xmlns:a16="http://schemas.microsoft.com/office/drawing/2014/main" id="{419B8A6A-E725-4C3F-B2B0-19DC24C39BDB}"/>
              </a:ext>
            </a:extLst>
          </p:cNvPr>
          <p:cNvSpPr>
            <a:spLocks xmlns:a="http://schemas.openxmlformats.org/drawingml/2006/main" noGrp="1"/>
          </p:cNvSpPr>
          <p:nvPr/>
        </p:nvSpPr>
        <p:spPr>
          <a:xfrm xmlns:a="http://schemas.openxmlformats.org/drawingml/2006/main">
            <a:off x="6263640" y="3172968"/>
            <a:ext cx="5376672" cy="1060704"/>
          </a:xfrm>
          <a:prstGeom xmlns:a="http://schemas.openxmlformats.org/drawingml/2006/main" prst="rect">
            <a:avLst/>
          </a:prstGeom>
          <a:solidFill xmlns:a="http://schemas.openxmlformats.org/drawingml/2006/main">
            <a:srgbClr val="F6F8F9"/>
          </a:solidFill>
          <a:ln xmlns:a="http://schemas.openxmlformats.org/drawingml/2006/main" w="12700">
            <a:solidFill>
              <a:srgbClr val="6072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4ECB2E5-A4EA-45F6-B880-6337870FA3F0}"/>
              </a:ext>
            </a:extLst>
          </p:cNvPr>
          <p:cNvSpPr>
            <a:spLocks xmlns:a="http://schemas.openxmlformats.org/drawingml/2006/main" noGrp="1"/>
          </p:cNvSpPr>
          <p:nvPr/>
        </p:nvSpPr>
        <p:spPr>
          <a:xfrm xmlns:a="http://schemas.openxmlformats.org/drawingml/2006/main">
            <a:off x="6373368" y="3547872"/>
            <a:ext cx="5157216"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b="1">
                <a:solidFill>
                  <a:srgbClr val="60727C"/>
                </a:solidFill>
                <a:latin typeface="Arial"/>
                <a:ea typeface="Arial"/>
                <a:cs typeface="Arial"/>
              </a:rPr>
              <a:t/>
            </a:r>
          </a:p>
        </p:txBody>
      </p:sp>
      <p:sp>
        <p:nvSpPr>
          <p:cNvPr id="16" name="TextBox 15">
            <a:extLst xmlns:a="http://schemas.openxmlformats.org/drawingml/2006/main">
              <a:ext uri="{FF2B5EF4-FFF2-40B4-BE49-F238E27FC236}">
                <a16:creationId xmlns:a16="http://schemas.microsoft.com/office/drawing/2014/main" id="{7991C83A-39E0-4380-AE08-9D5F88D0F95D}"/>
              </a:ext>
            </a:extLst>
          </p:cNvPr>
          <p:cNvSpPr>
            <a:spLocks xmlns:a="http://schemas.openxmlformats.org/drawingml/2006/main" noGrp="1"/>
          </p:cNvSpPr>
          <p:nvPr/>
        </p:nvSpPr>
        <p:spPr>
          <a:xfrm xmlns:a="http://schemas.openxmlformats.org/drawingml/2006/main">
            <a:off x="6263640" y="4251959"/>
            <a:ext cx="5376672"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1">
                <a:solidFill>
                  <a:srgbClr val="18313F"/>
                </a:solidFill>
                <a:latin typeface="Arial"/>
                <a:ea typeface="Arial"/>
                <a:cs typeface="Arial"/>
              </a:rPr>
              <a:t>Ansible second apply: changed=0</a:t>
            </a:r>
          </a:p>
        </p:txBody>
      </p:sp>
      <p:sp>
        <p:nvSpPr>
          <p:cNvPr id="17" name="Rounded Rectangle 16">
            <a:extLst xmlns:a="http://schemas.openxmlformats.org/drawingml/2006/main">
              <a:ext uri="{FF2B5EF4-FFF2-40B4-BE49-F238E27FC236}">
                <a16:creationId xmlns:a16="http://schemas.microsoft.com/office/drawing/2014/main" id="{B3525968-364F-4633-AD5B-2175ED7FF36A}"/>
              </a:ext>
            </a:extLst>
          </p:cNvPr>
          <p:cNvSpPr>
            <a:spLocks xmlns:a="http://schemas.openxmlformats.org/drawingml/2006/main" noGrp="1"/>
          </p:cNvSpPr>
          <p:nvPr/>
        </p:nvSpPr>
        <p:spPr>
          <a:xfrm xmlns:a="http://schemas.openxmlformats.org/drawingml/2006/main">
            <a:off x="585216" y="5120640"/>
            <a:ext cx="11018520" cy="777240"/>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Fresh checks: 31 tests / 96.97% app coverage</a:t>
            </a:r>
          </a:p>
          <a:p xmlns:a="http://schemas.openxmlformats.org/drawingml/2006/main">
            <a:pPr algn="ctr">
              <a:buNone/>
            </a:pPr>
            <a:r>
              <a:rPr sz="1500" b="1">
                <a:solidFill>
                  <a:srgbClr val="18313F"/>
                </a:solidFill>
                <a:latin typeface="Arial"/>
                <a:ea typeface="Arial"/>
                <a:cs typeface="Arial"/>
              </a:rPr>
              <a:t>240 rollout requests / 0 failures · Ansible changes: 31 then 0</a:t>
            </a:r>
          </a:p>
        </p:txBody>
      </p:sp>
      <p:sp>
        <p:nvSpPr>
          <p:cNvPr id="18" name="TextBox 17">
            <a:extLst xmlns:a="http://schemas.openxmlformats.org/drawingml/2006/main">
              <a:ext uri="{FF2B5EF4-FFF2-40B4-BE49-F238E27FC236}">
                <a16:creationId xmlns:a16="http://schemas.microsoft.com/office/drawing/2014/main" id="{4E5BCB69-583A-4D60-AAE8-47FF48A46248}"/>
              </a:ext>
            </a:extLst>
          </p:cNvPr>
          <p:cNvSpPr>
            <a:spLocks xmlns:a="http://schemas.openxmlformats.org/drawingml/2006/main" noGrp="1"/>
          </p:cNvSpPr>
          <p:nvPr/>
        </p:nvSpPr>
        <p:spPr>
          <a:xfrm xmlns:a="http://schemas.openxmlformats.org/drawingml/2006/main">
            <a:off x="640080" y="5998464"/>
            <a:ext cx="1097280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b="0">
                <a:solidFill>
                  <a:srgbClr val="60727C"/>
                </a:solidFill>
                <a:latin typeface="Arial"/>
                <a:ea typeface="Arial"/>
                <a:cs typeface="Arial"/>
              </a:rPr>
              <a:t>Full-size evidence: docs/screenshots/ · Original records: docs/evidence/windows/</a:t>
            </a:r>
          </a:p>
        </p:txBody>
      </p:sp>
      <p:sp>
        <p:nvSpPr>
          <p:cNvPr id="19" name="TextBox 18">
            <a:extLst xmlns:a="http://schemas.openxmlformats.org/drawingml/2006/main">
              <a:ext uri="{FF2B5EF4-FFF2-40B4-BE49-F238E27FC236}">
                <a16:creationId xmlns:a16="http://schemas.microsoft.com/office/drawing/2014/main" id="{8B7A6F97-EF53-4E41-83BD-78984C14D7F8}"/>
              </a:ext>
            </a:extLst>
          </p:cNvPr>
          <p:cNvSpPr>
            <a:spLocks xmlns:a="http://schemas.openxmlformats.org/drawingml/2006/main" noGrp="1"/>
          </p:cNvSpPr>
          <p:nvPr/>
        </p:nvSpPr>
        <p:spPr>
          <a:xfrm xmlns:a="http://schemas.openxmlformats.org/drawingml/2006/main">
            <a:off x="502920" y="6510528"/>
            <a:ext cx="9875520" cy="1874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defRPr sz="750">
                <a:solidFill>
                  <a:srgbClr val="60727C"/>
                </a:solidFill>
              </a:defRPr>
            </a:defPPr>
            <a:lvl1pPr>
              <a:buNone/>
              <a:defRPr sz="750">
                <a:solidFill>
                  <a:srgbClr val="60727C"/>
                </a:solidFill>
              </a:defRPr>
            </a:lvl1pPr>
            <a:lvl2pPr>
              <a:buNone/>
              <a:defRPr sz="750">
                <a:solidFill>
                  <a:srgbClr val="60727C"/>
                </a:solidFill>
              </a:defRPr>
            </a:lvl2pPr>
            <a:lvl3pPr>
              <a:buNone/>
              <a:defRPr sz="750">
                <a:solidFill>
                  <a:srgbClr val="60727C"/>
                </a:solidFill>
              </a:defRPr>
            </a:lvl3pPr>
            <a:lvl4pPr>
              <a:buNone/>
              <a:defRPr sz="750">
                <a:solidFill>
                  <a:srgbClr val="60727C"/>
                </a:solidFill>
              </a:defRPr>
            </a:lvl4pPr>
            <a:lvl5pPr>
              <a:buNone/>
              <a:defRPr sz="750">
                <a:solidFill>
                  <a:srgbClr val="60727C"/>
                </a:solidFill>
              </a:defRPr>
            </a:lvl5pPr>
            <a:lvl6pPr>
              <a:buNone/>
              <a:defRPr sz="750">
                <a:solidFill>
                  <a:srgbClr val="60727C"/>
                </a:solidFill>
              </a:defRPr>
            </a:lvl6pPr>
            <a:lvl7pPr>
              <a:buNone/>
              <a:defRPr sz="750">
                <a:solidFill>
                  <a:srgbClr val="60727C"/>
                </a:solidFill>
              </a:defRPr>
            </a:lvl7pPr>
            <a:lvl8pPr>
              <a:buNone/>
              <a:defRPr sz="750">
                <a:solidFill>
                  <a:srgbClr val="60727C"/>
                </a:solidFill>
              </a:defRPr>
            </a:lvl8pPr>
            <a:lvl9pPr>
              <a:buNone/>
              <a:defRPr sz="750">
                <a:solidFill>
                  <a:srgbClr val="60727C"/>
                </a:solidFill>
              </a:defRPr>
            </a:lvl9pPr>
          </a:lstStyle>
          <a:p xmlns:a="http://schemas.openxmlformats.org/drawingml/2006/main">
            <a:pPr>
              <a:buNone/>
              <a:defRPr sz="750">
                <a:solidFill>
                  <a:srgbClr val="60727C"/>
                </a:solidFill>
              </a:defRPr>
            </a:pPr>
            <a:r>
              <a:rPr sz="750" b="0">
                <a:solidFill>
                  <a:srgbClr val="60727C"/>
                </a:solidFill>
                <a:latin typeface="Arial"/>
                <a:ea typeface="Arial"/>
                <a:cs typeface="Arial"/>
              </a:rPr>
              <a:t>Harsh Ledwani (23070122100)  |  Shivam Kapure (23070122113)  |  Kashyup Gaud (23070122114)  |  Kisna Kanti (23070122116)</a:t>
            </a:r>
          </a:p>
        </p:txBody>
      </p:sp>
      <p:sp>
        <p:nvSpPr>
          <p:cNvPr id="20" name="TextBox 19">
            <a:extLst xmlns:a="http://schemas.openxmlformats.org/drawingml/2006/main">
              <a:ext uri="{FF2B5EF4-FFF2-40B4-BE49-F238E27FC236}">
                <a16:creationId xmlns:a16="http://schemas.microsoft.com/office/drawing/2014/main" id="{E7D8E9FE-2890-47F4-AE3B-1E5BE059C3CD}"/>
              </a:ext>
            </a:extLst>
          </p:cNvPr>
          <p:cNvSpPr>
            <a:spLocks xmlns:a="http://schemas.openxmlformats.org/drawingml/2006/main" noGrp="1"/>
          </p:cNvSpPr>
          <p:nvPr/>
        </p:nvSpPr>
        <p:spPr>
          <a:xfrm xmlns:a="http://schemas.openxmlformats.org/drawingml/2006/main">
            <a:off x="11201400" y="6492240"/>
            <a:ext cx="411480" cy="1828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00" b="0">
                <a:solidFill>
                  <a:srgbClr val="60727C"/>
                </a:solidFill>
                <a:latin typeface="Arial"/>
                <a:ea typeface="Arial"/>
                <a:cs typeface="Arial"/>
              </a:rPr>
              <a:t>3</a:t>
            </a:r>
          </a:p>
        </p:txBody>
      </p:sp>
      <p:pic>
        <p:nvPicPr>
          <p:cNvPr id="21" name="">
            <a:extLst xmlns:a="http://schemas.openxmlformats.org/drawingml/2006/main">
              <a:ext uri="{FF2B5EF4-FFF2-40B4-BE49-F238E27FC236}">
                <a16:creationId xmlns:a16="http://schemas.microsoft.com/office/drawing/2014/main" id="{9E0DD6E3-9C4D-4879-9BDF-CFAB1D4826EA}"/>
              </a:ext>
            </a:extLst>
          </p:cNvPr>
          <p:cNvPicPr>
            <a:picLocks xmlns:a="http://schemas.openxmlformats.org/drawingml/2006/main" noChangeAspect="1"/>
          </p:cNvPicPr>
          <p:nvPr/>
        </p:nvPicPr>
        <p:blipFill>
          <a:blip xmlns:r="http://schemas.openxmlformats.org/officeDocument/2006/relationships" xmlns:a="http://schemas.openxmlformats.org/drawingml/2006/main" r:embed="R4bfbf9494aca4d7a"/>
          <a:stretch xmlns:a="http://schemas.openxmlformats.org/drawingml/2006/main"/>
        </p:blipFill>
        <p:spPr>
          <a:xfrm xmlns:a="http://schemas.openxmlformats.org/drawingml/2006/main">
            <a:off x="2290233" y="1571625"/>
            <a:ext cx="1896533" cy="10668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D5EA5821-02BF-4CB9-AF59-D0999DDBD7AD}"/>
              </a:ext>
            </a:extLst>
          </p:cNvPr>
          <p:cNvPicPr>
            <a:picLocks xmlns:a="http://schemas.openxmlformats.org/drawingml/2006/main" noChangeAspect="1"/>
          </p:cNvPicPr>
          <p:nvPr/>
        </p:nvPicPr>
        <p:blipFill>
          <a:blip xmlns:r="http://schemas.openxmlformats.org/officeDocument/2006/relationships" xmlns:a="http://schemas.openxmlformats.org/drawingml/2006/main" r:embed="R706b8dcd268c4374"/>
          <a:stretch xmlns:a="http://schemas.openxmlformats.org/drawingml/2006/main"/>
        </p:blipFill>
        <p:spPr>
          <a:xfrm xmlns:a="http://schemas.openxmlformats.org/drawingml/2006/main">
            <a:off x="8005233" y="1571625"/>
            <a:ext cx="1896533" cy="1066800"/>
          </a:xfrm>
          <a:prstGeom xmlns:a="http://schemas.openxmlformats.org/drawingml/2006/main" prst="rect">
            <a:avLst/>
          </a:prstGeom>
        </p:spPr>
      </p:pic>
      <p:pic>
        <p:nvPicPr>
          <p:cNvPr id="23" name="">
            <a:extLst xmlns:a="http://schemas.openxmlformats.org/drawingml/2006/main">
              <a:ext uri="{FF2B5EF4-FFF2-40B4-BE49-F238E27FC236}">
                <a16:creationId xmlns:a16="http://schemas.microsoft.com/office/drawing/2014/main" id="{4BBB927C-44CE-4038-92B7-50C46D7F37EC}"/>
              </a:ext>
            </a:extLst>
          </p:cNvPr>
          <p:cNvPicPr>
            <a:picLocks xmlns:a="http://schemas.openxmlformats.org/drawingml/2006/main" noChangeAspect="1"/>
          </p:cNvPicPr>
          <p:nvPr/>
        </p:nvPicPr>
        <p:blipFill>
          <a:blip xmlns:r="http://schemas.openxmlformats.org/officeDocument/2006/relationships" xmlns:a="http://schemas.openxmlformats.org/drawingml/2006/main" r:embed="Rd89c99e39f06443c"/>
          <a:stretch xmlns:a="http://schemas.openxmlformats.org/drawingml/2006/main"/>
        </p:blipFill>
        <p:spPr>
          <a:xfrm xmlns:a="http://schemas.openxmlformats.org/drawingml/2006/main">
            <a:off x="2290816" y="3171825"/>
            <a:ext cx="1895368" cy="1066800"/>
          </a:xfrm>
          <a:prstGeom xmlns:a="http://schemas.openxmlformats.org/drawingml/2006/main" prst="rect">
            <a:avLst/>
          </a:prstGeom>
        </p:spPr>
      </p:pic>
      <p:pic>
        <p:nvPicPr>
          <p:cNvPr id="24" name="">
            <a:extLst xmlns:a="http://schemas.openxmlformats.org/drawingml/2006/main">
              <a:ext uri="{FF2B5EF4-FFF2-40B4-BE49-F238E27FC236}">
                <a16:creationId xmlns:a16="http://schemas.microsoft.com/office/drawing/2014/main" id="{EEB64320-A0B1-476D-8A4E-782D16ED6BBC}"/>
              </a:ext>
            </a:extLst>
          </p:cNvPr>
          <p:cNvPicPr>
            <a:picLocks xmlns:a="http://schemas.openxmlformats.org/drawingml/2006/main" noChangeAspect="1"/>
          </p:cNvPicPr>
          <p:nvPr/>
        </p:nvPicPr>
        <p:blipFill>
          <a:blip xmlns:r="http://schemas.openxmlformats.org/officeDocument/2006/relationships" xmlns:a="http://schemas.openxmlformats.org/drawingml/2006/main" r:embed="Rc864c52bcf8d49fd"/>
          <a:stretch xmlns:a="http://schemas.openxmlformats.org/drawingml/2006/main"/>
        </p:blipFill>
        <p:spPr>
          <a:xfrm xmlns:a="http://schemas.openxmlformats.org/drawingml/2006/main">
            <a:off x="8005816" y="3171825"/>
            <a:ext cx="1895368" cy="1066800"/>
          </a:xfrm>
          <a:prstGeom xmlns:a="http://schemas.openxmlformats.org/drawingml/2006/main" prst="rect">
            <a:avLst/>
          </a:prstGeom>
        </p:spPr>
      </p:pic>
    </p:spTree>
    <p:extLst>
      <p:ext uri="{BB962C8B-B14F-4D97-AF65-F5344CB8AC3E}">
        <p14:creationId xmlns:p14="http://schemas.microsoft.com/office/powerpoint/2010/main" val="97431371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87745C2-659F-4742-B8BC-A822B288834D}"/>
              </a:ext>
            </a:extLst>
          </p:cNvPr>
          <p:cNvSpPr>
            <a:spLocks xmlns:a="http://schemas.openxmlformats.org/drawingml/2006/main" noGrp="1"/>
          </p:cNvSpPr>
          <p:nvPr/>
        </p:nvSpPr>
        <p:spPr>
          <a:xfrm xmlns:a="http://schemas.openxmlformats.org/drawingml/2006/main">
            <a:off x="475488" y="256032"/>
            <a:ext cx="11155680" cy="4617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lgn="l">
              <a:defRPr sz="2550" b="1">
                <a:solidFill>
                  <a:srgbClr val="172B3A"/>
                </a:solidFill>
                <a:latin typeface="Arial"/>
                <a:ea typeface="Arial"/>
                <a:cs typeface="Arial"/>
              </a:defRPr>
            </a:defPPr>
            <a:lvl1pPr algn="l">
              <a:buNone/>
              <a:defRPr sz="2550" b="1">
                <a:solidFill>
                  <a:srgbClr val="172B3A"/>
                </a:solidFill>
                <a:latin typeface="Arial"/>
                <a:ea typeface="Arial"/>
                <a:cs typeface="Arial"/>
              </a:defRPr>
            </a:lvl1pPr>
            <a:lvl2pPr algn="l">
              <a:buNone/>
              <a:defRPr sz="2550" b="1">
                <a:solidFill>
                  <a:srgbClr val="172B3A"/>
                </a:solidFill>
                <a:latin typeface="Arial"/>
                <a:ea typeface="Arial"/>
                <a:cs typeface="Arial"/>
              </a:defRPr>
            </a:lvl2pPr>
            <a:lvl3pPr algn="l">
              <a:buNone/>
              <a:defRPr sz="2550" b="1">
                <a:solidFill>
                  <a:srgbClr val="172B3A"/>
                </a:solidFill>
                <a:latin typeface="Arial"/>
                <a:ea typeface="Arial"/>
                <a:cs typeface="Arial"/>
              </a:defRPr>
            </a:lvl3pPr>
            <a:lvl4pPr algn="l">
              <a:buNone/>
              <a:defRPr sz="2550" b="1">
                <a:solidFill>
                  <a:srgbClr val="172B3A"/>
                </a:solidFill>
                <a:latin typeface="Arial"/>
                <a:ea typeface="Arial"/>
                <a:cs typeface="Arial"/>
              </a:defRPr>
            </a:lvl4pPr>
            <a:lvl5pPr algn="l">
              <a:buNone/>
              <a:defRPr sz="2550" b="1">
                <a:solidFill>
                  <a:srgbClr val="172B3A"/>
                </a:solidFill>
                <a:latin typeface="Arial"/>
                <a:ea typeface="Arial"/>
                <a:cs typeface="Arial"/>
              </a:defRPr>
            </a:lvl5pPr>
            <a:lvl6pPr algn="l">
              <a:buNone/>
              <a:defRPr sz="2550" b="1">
                <a:solidFill>
                  <a:srgbClr val="172B3A"/>
                </a:solidFill>
                <a:latin typeface="Arial"/>
                <a:ea typeface="Arial"/>
                <a:cs typeface="Arial"/>
              </a:defRPr>
            </a:lvl6pPr>
            <a:lvl7pPr algn="l">
              <a:buNone/>
              <a:defRPr sz="2550" b="1">
                <a:solidFill>
                  <a:srgbClr val="172B3A"/>
                </a:solidFill>
                <a:latin typeface="Arial"/>
                <a:ea typeface="Arial"/>
                <a:cs typeface="Arial"/>
              </a:defRPr>
            </a:lvl7pPr>
            <a:lvl8pPr algn="l">
              <a:buNone/>
              <a:defRPr sz="2550" b="1">
                <a:solidFill>
                  <a:srgbClr val="172B3A"/>
                </a:solidFill>
                <a:latin typeface="Arial"/>
                <a:ea typeface="Arial"/>
                <a:cs typeface="Arial"/>
              </a:defRPr>
            </a:lvl8pPr>
            <a:lvl9pPr algn="l">
              <a:buNone/>
              <a:defRPr sz="2550" b="1">
                <a:solidFill>
                  <a:srgbClr val="172B3A"/>
                </a:solidFill>
                <a:latin typeface="Arial"/>
                <a:ea typeface="Arial"/>
                <a:cs typeface="Arial"/>
              </a:defRPr>
            </a:lvl9pPr>
          </a:lstStyle>
          <a:p xmlns:a="http://schemas.openxmlformats.org/drawingml/2006/main">
            <a:pPr algn="l">
              <a:buNone/>
              <a:defRPr sz="2550" b="1">
                <a:solidFill>
                  <a:srgbClr val="172B3A"/>
                </a:solidFill>
                <a:latin typeface="Arial"/>
                <a:ea typeface="Arial"/>
                <a:cs typeface="Arial"/>
              </a:defRPr>
            </a:pPr>
            <a:r>
              <a:rPr sz="2550" b="1">
                <a:solidFill>
                  <a:srgbClr val="172B3A"/>
                </a:solidFill>
                <a:latin typeface="Arial"/>
                <a:ea typeface="Arial"/>
                <a:cs typeface="Arial"/>
              </a:rPr>
              <a:t>Challenges and fixes</a:t>
            </a:r>
          </a:p>
        </p:txBody>
      </p:sp>
      <p:sp>
        <p:nvSpPr>
          <p:cNvPr id="3" name="Rectangle 2">
            <a:extLst xmlns:a="http://schemas.openxmlformats.org/drawingml/2006/main">
              <a:ext uri="{FF2B5EF4-FFF2-40B4-BE49-F238E27FC236}">
                <a16:creationId xmlns:a16="http://schemas.microsoft.com/office/drawing/2014/main" id="{B4A9B970-6BA0-4B9D-A767-7733273C5911}"/>
              </a:ext>
            </a:extLst>
          </p:cNvPr>
          <p:cNvSpPr>
            <a:spLocks xmlns:a="http://schemas.openxmlformats.org/drawingml/2006/main" noGrp="1"/>
          </p:cNvSpPr>
          <p:nvPr/>
        </p:nvSpPr>
        <p:spPr>
          <a:xfrm xmlns:a="http://schemas.openxmlformats.org/drawingml/2006/main">
            <a:off x="502920" y="896112"/>
            <a:ext cx="749808" cy="54864"/>
          </a:xfrm>
          <a:prstGeom xmlns:a="http://schemas.openxmlformats.org/drawingml/2006/main" prst="rect">
            <a:avLst/>
          </a:prstGeom>
          <a:solidFill xmlns:a="http://schemas.openxmlformats.org/drawingml/2006/main">
            <a:srgbClr val="1A8C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04580E7-AB7B-4050-B1F6-70FBC569B634}"/>
              </a:ext>
            </a:extLst>
          </p:cNvPr>
          <p:cNvSpPr>
            <a:spLocks xmlns:a="http://schemas.openxmlformats.org/drawingml/2006/main" noGrp="1"/>
          </p:cNvSpPr>
          <p:nvPr/>
        </p:nvSpPr>
        <p:spPr>
          <a:xfrm xmlns:a="http://schemas.openxmlformats.org/drawingml/2006/main">
            <a:off x="493776" y="969264"/>
            <a:ext cx="11155680" cy="3291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0">
                <a:solidFill>
                  <a:srgbClr val="60727C"/>
                </a:solidFill>
                <a:latin typeface="Arial"/>
                <a:ea typeface="Arial"/>
                <a:cs typeface="Arial"/>
              </a:rPr>
              <a:t>Top evidence-backed challenges · details and sources: docs/CHALLENGES.md</a:t>
            </a:r>
          </a:p>
        </p:txBody>
      </p:sp>
      <p:sp>
        <p:nvSpPr>
          <p:cNvPr id="5" name="Rounded Rectangle 4">
            <a:extLst xmlns:a="http://schemas.openxmlformats.org/drawingml/2006/main">
              <a:ext uri="{FF2B5EF4-FFF2-40B4-BE49-F238E27FC236}">
                <a16:creationId xmlns:a16="http://schemas.microsoft.com/office/drawing/2014/main" id="{D9AB2D11-0AF1-4EB3-886A-D5EC7BBAA2AC}"/>
              </a:ext>
            </a:extLst>
          </p:cNvPr>
          <p:cNvSpPr>
            <a:spLocks xmlns:a="http://schemas.openxmlformats.org/drawingml/2006/main" noGrp="1"/>
          </p:cNvSpPr>
          <p:nvPr/>
        </p:nvSpPr>
        <p:spPr>
          <a:xfrm xmlns:a="http://schemas.openxmlformats.org/drawingml/2006/main">
            <a:off x="594360" y="1508760"/>
            <a:ext cx="10972800" cy="640080"/>
          </a:xfrm>
          <a:prstGeom xmlns:a="http://schemas.openxmlformats.org/drawingml/2006/main" prst="roundRect">
            <a:avLst/>
          </a:prstGeom>
          <a:solidFill xmlns:a="http://schemas.openxmlformats.org/drawingml/2006/main">
            <a:srgbClr val="EEF4F5"/>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1  Ready probes missed release errors → health checks were too narrow → alert on 5xx and roll back</a:t>
            </a:r>
          </a:p>
        </p:txBody>
      </p:sp>
      <p:sp>
        <p:nvSpPr>
          <p:cNvPr id="6" name="Rounded Rectangle 5">
            <a:extLst xmlns:a="http://schemas.openxmlformats.org/drawingml/2006/main">
              <a:ext uri="{FF2B5EF4-FFF2-40B4-BE49-F238E27FC236}">
                <a16:creationId xmlns:a16="http://schemas.microsoft.com/office/drawing/2014/main" id="{A0BE27AC-7B3B-476C-A2A5-AF2B9C0B8652}"/>
              </a:ext>
            </a:extLst>
          </p:cNvPr>
          <p:cNvSpPr>
            <a:spLocks xmlns:a="http://schemas.openxmlformats.org/drawingml/2006/main" noGrp="1"/>
          </p:cNvSpPr>
          <p:nvPr/>
        </p:nvSpPr>
        <p:spPr>
          <a:xfrm xmlns:a="http://schemas.openxmlformats.org/drawingml/2006/main">
            <a:off x="594360" y="2340864"/>
            <a:ext cx="10972800" cy="640080"/>
          </a:xfrm>
          <a:prstGeom xmlns:a="http://schemas.openxmlformats.org/drawingml/2006/main" prst="roundRect">
            <a:avLst/>
          </a:prstGeom>
          <a:solidFill xmlns:a="http://schemas.openxmlformats.org/drawingml/2006/main">
            <a:srgbClr val="FFFFFF"/>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0">
                <a:solidFill>
                  <a:srgbClr val="18313F"/>
                </a:solidFill>
                <a:latin typeface="Arial"/>
                <a:ea typeface="Arial"/>
                <a:cs typeface="Arial"/>
              </a:rPr>
              <a:t>2  Nested Kustomize base was blocked → path restriction → render a temporary sibling overlay</a:t>
            </a:r>
          </a:p>
        </p:txBody>
      </p:sp>
      <p:sp>
        <p:nvSpPr>
          <p:cNvPr id="7" name="Rounded Rectangle 6">
            <a:extLst xmlns:a="http://schemas.openxmlformats.org/drawingml/2006/main">
              <a:ext uri="{FF2B5EF4-FFF2-40B4-BE49-F238E27FC236}">
                <a16:creationId xmlns:a16="http://schemas.microsoft.com/office/drawing/2014/main" id="{D2DB9321-E5BE-449E-B42C-61581D4AD945}"/>
              </a:ext>
            </a:extLst>
          </p:cNvPr>
          <p:cNvSpPr>
            <a:spLocks xmlns:a="http://schemas.openxmlformats.org/drawingml/2006/main" noGrp="1"/>
          </p:cNvSpPr>
          <p:nvPr/>
        </p:nvSpPr>
        <p:spPr>
          <a:xfrm xmlns:a="http://schemas.openxmlformats.org/drawingml/2006/main">
            <a:off x="594360" y="3172968"/>
            <a:ext cx="10972800" cy="640080"/>
          </a:xfrm>
          <a:prstGeom xmlns:a="http://schemas.openxmlformats.org/drawingml/2006/main" prst="roundRect">
            <a:avLst/>
          </a:prstGeom>
          <a:solidFill xmlns:a="http://schemas.openxmlformats.org/drawingml/2006/main">
            <a:srgbClr val="EEF4F5"/>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0">
                <a:solidFill>
                  <a:srgbClr val="18313F"/>
                </a:solidFill>
                <a:latin typeface="Arial"/>
                <a:ea typeface="Arial"/>
                <a:cs typeface="Arial"/>
              </a:rPr>
              <a:t>3  Grafana OOM at 256/384 MiB → limits were too low → use the evidenced 768 MiB setting</a:t>
            </a:r>
          </a:p>
        </p:txBody>
      </p:sp>
      <p:sp>
        <p:nvSpPr>
          <p:cNvPr id="8" name="Rounded Rectangle 7">
            <a:extLst xmlns:a="http://schemas.openxmlformats.org/drawingml/2006/main">
              <a:ext uri="{FF2B5EF4-FFF2-40B4-BE49-F238E27FC236}">
                <a16:creationId xmlns:a16="http://schemas.microsoft.com/office/drawing/2014/main" id="{BE536180-EC86-4961-A6DB-F7CD69F398DD}"/>
              </a:ext>
            </a:extLst>
          </p:cNvPr>
          <p:cNvSpPr>
            <a:spLocks xmlns:a="http://schemas.openxmlformats.org/drawingml/2006/main" noGrp="1"/>
          </p:cNvSpPr>
          <p:nvPr/>
        </p:nvSpPr>
        <p:spPr>
          <a:xfrm xmlns:a="http://schemas.openxmlformats.org/drawingml/2006/main">
            <a:off x="594360" y="4005072"/>
            <a:ext cx="10972800" cy="640080"/>
          </a:xfrm>
          <a:prstGeom xmlns:a="http://schemas.openxmlformats.org/drawingml/2006/main" prst="roundRect">
            <a:avLst/>
          </a:prstGeom>
          <a:solidFill xmlns:a="http://schemas.openxmlformats.org/drawingml/2006/main">
            <a:srgbClr val="FFFFFF"/>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0">
                <a:solidFill>
                  <a:srgbClr val="18313F"/>
                </a:solidFill>
                <a:latin typeface="Arial"/>
                <a:ea typeface="Arial"/>
                <a:cs typeface="Arial"/>
              </a:rPr>
              <a:t>4  Redis outage broke readiness → API depends on Redis → separate liveness and verify recovery</a:t>
            </a:r>
          </a:p>
        </p:txBody>
      </p:sp>
      <p:sp>
        <p:nvSpPr>
          <p:cNvPr id="9" name="Rounded Rectangle 8">
            <a:extLst xmlns:a="http://schemas.openxmlformats.org/drawingml/2006/main">
              <a:ext uri="{FF2B5EF4-FFF2-40B4-BE49-F238E27FC236}">
                <a16:creationId xmlns:a16="http://schemas.microsoft.com/office/drawing/2014/main" id="{E7B97B48-7EFA-4F53-AF82-F26410F6B829}"/>
              </a:ext>
            </a:extLst>
          </p:cNvPr>
          <p:cNvSpPr>
            <a:spLocks xmlns:a="http://schemas.openxmlformats.org/drawingml/2006/main" noGrp="1"/>
          </p:cNvSpPr>
          <p:nvPr/>
        </p:nvSpPr>
        <p:spPr>
          <a:xfrm xmlns:a="http://schemas.openxmlformats.org/drawingml/2006/main">
            <a:off x="594360" y="4837176"/>
            <a:ext cx="10972800" cy="640080"/>
          </a:xfrm>
          <a:prstGeom xmlns:a="http://schemas.openxmlformats.org/drawingml/2006/main" prst="roundRect">
            <a:avLst/>
          </a:prstGeom>
          <a:solidFill xmlns:a="http://schemas.openxmlformats.org/drawingml/2006/main">
            <a:srgbClr val="EEF4F5"/>
          </a:solidFill>
          <a:ln xmlns:a="http://schemas.openxmlformats.org/drawingml/2006/main" w="14604">
            <a:solidFill>
              <a:srgbClr val="D2E2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0">
                <a:solidFill>
                  <a:srgbClr val="18313F"/>
                </a:solidFill>
                <a:latin typeface="Arial"/>
                <a:ea typeface="Arial"/>
                <a:cs typeface="Arial"/>
              </a:rPr>
              <a:t>5  Ansible changed on its second run → installed systemd binaries misled facts → check running systemd</a:t>
            </a:r>
          </a:p>
        </p:txBody>
      </p:sp>
      <p:sp>
        <p:nvSpPr>
          <p:cNvPr id="10" name="TextBox 9">
            <a:extLst xmlns:a="http://schemas.openxmlformats.org/drawingml/2006/main">
              <a:ext uri="{FF2B5EF4-FFF2-40B4-BE49-F238E27FC236}">
                <a16:creationId xmlns:a16="http://schemas.microsoft.com/office/drawing/2014/main" id="{CEC7CD1D-C8AA-4205-9187-8378A01CDA41}"/>
              </a:ext>
            </a:extLst>
          </p:cNvPr>
          <p:cNvSpPr>
            <a:spLocks xmlns:a="http://schemas.openxmlformats.org/drawingml/2006/main" noGrp="1"/>
          </p:cNvSpPr>
          <p:nvPr/>
        </p:nvSpPr>
        <p:spPr>
          <a:xfrm xmlns:a="http://schemas.openxmlformats.org/drawingml/2006/main">
            <a:off x="502920" y="6510528"/>
            <a:ext cx="9875520" cy="1874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defRPr sz="750">
                <a:solidFill>
                  <a:srgbClr val="60727C"/>
                </a:solidFill>
              </a:defRPr>
            </a:defPPr>
            <a:lvl1pPr>
              <a:buNone/>
              <a:defRPr sz="750">
                <a:solidFill>
                  <a:srgbClr val="60727C"/>
                </a:solidFill>
              </a:defRPr>
            </a:lvl1pPr>
            <a:lvl2pPr>
              <a:buNone/>
              <a:defRPr sz="750">
                <a:solidFill>
                  <a:srgbClr val="60727C"/>
                </a:solidFill>
              </a:defRPr>
            </a:lvl2pPr>
            <a:lvl3pPr>
              <a:buNone/>
              <a:defRPr sz="750">
                <a:solidFill>
                  <a:srgbClr val="60727C"/>
                </a:solidFill>
              </a:defRPr>
            </a:lvl3pPr>
            <a:lvl4pPr>
              <a:buNone/>
              <a:defRPr sz="750">
                <a:solidFill>
                  <a:srgbClr val="60727C"/>
                </a:solidFill>
              </a:defRPr>
            </a:lvl4pPr>
            <a:lvl5pPr>
              <a:buNone/>
              <a:defRPr sz="750">
                <a:solidFill>
                  <a:srgbClr val="60727C"/>
                </a:solidFill>
              </a:defRPr>
            </a:lvl5pPr>
            <a:lvl6pPr>
              <a:buNone/>
              <a:defRPr sz="750">
                <a:solidFill>
                  <a:srgbClr val="60727C"/>
                </a:solidFill>
              </a:defRPr>
            </a:lvl6pPr>
            <a:lvl7pPr>
              <a:buNone/>
              <a:defRPr sz="750">
                <a:solidFill>
                  <a:srgbClr val="60727C"/>
                </a:solidFill>
              </a:defRPr>
            </a:lvl7pPr>
            <a:lvl8pPr>
              <a:buNone/>
              <a:defRPr sz="750">
                <a:solidFill>
                  <a:srgbClr val="60727C"/>
                </a:solidFill>
              </a:defRPr>
            </a:lvl8pPr>
            <a:lvl9pPr>
              <a:buNone/>
              <a:defRPr sz="750">
                <a:solidFill>
                  <a:srgbClr val="60727C"/>
                </a:solidFill>
              </a:defRPr>
            </a:lvl9pPr>
          </a:lstStyle>
          <a:p xmlns:a="http://schemas.openxmlformats.org/drawingml/2006/main">
            <a:pPr>
              <a:buNone/>
              <a:defRPr sz="750">
                <a:solidFill>
                  <a:srgbClr val="60727C"/>
                </a:solidFill>
              </a:defRPr>
            </a:pPr>
            <a:r>
              <a:rPr sz="750" b="0">
                <a:solidFill>
                  <a:srgbClr val="60727C"/>
                </a:solidFill>
                <a:latin typeface="Arial"/>
                <a:ea typeface="Arial"/>
                <a:cs typeface="Arial"/>
              </a:rPr>
              <a:t>Harsh Ledwani (23070122100)  |  Shivam Kapure (23070122113)  |  Kashyup Gaud (23070122114)  |  Kisna Kanti (23070122116)</a:t>
            </a:r>
          </a:p>
        </p:txBody>
      </p:sp>
      <p:sp>
        <p:nvSpPr>
          <p:cNvPr id="11" name="TextBox 10">
            <a:extLst xmlns:a="http://schemas.openxmlformats.org/drawingml/2006/main">
              <a:ext uri="{FF2B5EF4-FFF2-40B4-BE49-F238E27FC236}">
                <a16:creationId xmlns:a16="http://schemas.microsoft.com/office/drawing/2014/main" id="{45288B3B-464A-4335-96F9-26C21ECEF981}"/>
              </a:ext>
            </a:extLst>
          </p:cNvPr>
          <p:cNvSpPr>
            <a:spLocks xmlns:a="http://schemas.openxmlformats.org/drawingml/2006/main" noGrp="1"/>
          </p:cNvSpPr>
          <p:nvPr/>
        </p:nvSpPr>
        <p:spPr>
          <a:xfrm xmlns:a="http://schemas.openxmlformats.org/drawingml/2006/main">
            <a:off x="11201400" y="6492240"/>
            <a:ext cx="411480" cy="1828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00" b="0">
                <a:solidFill>
                  <a:srgbClr val="60727C"/>
                </a:solidFill>
                <a:latin typeface="Arial"/>
                <a:ea typeface="Arial"/>
                <a:cs typeface="Arial"/>
              </a:rPr>
              <a:t>4</a:t>
            </a:r>
          </a:p>
        </p:txBody>
      </p:sp>
    </p:spTree>
    <p:extLst>
      <p:ext uri="{BB962C8B-B14F-4D97-AF65-F5344CB8AC3E}">
        <p14:creationId xmlns:p14="http://schemas.microsoft.com/office/powerpoint/2010/main" val="21415722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40F496-A70A-4B9A-B60A-1A1EE178AC60}"/>
              </a:ext>
            </a:extLst>
          </p:cNvPr>
          <p:cNvSpPr>
            <a:spLocks xmlns:a="http://schemas.openxmlformats.org/drawingml/2006/main" noGrp="1"/>
          </p:cNvSpPr>
          <p:nvPr/>
        </p:nvSpPr>
        <p:spPr>
          <a:xfrm xmlns:a="http://schemas.openxmlformats.org/drawingml/2006/main">
            <a:off x="475488" y="256032"/>
            <a:ext cx="11155680" cy="4617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lgn="l">
              <a:defRPr sz="2550" b="1">
                <a:solidFill>
                  <a:srgbClr val="172B3A"/>
                </a:solidFill>
                <a:latin typeface="Arial"/>
                <a:ea typeface="Arial"/>
                <a:cs typeface="Arial"/>
              </a:defRPr>
            </a:defPPr>
            <a:lvl1pPr algn="l">
              <a:buNone/>
              <a:defRPr sz="2550" b="1">
                <a:solidFill>
                  <a:srgbClr val="172B3A"/>
                </a:solidFill>
                <a:latin typeface="Arial"/>
                <a:ea typeface="Arial"/>
                <a:cs typeface="Arial"/>
              </a:defRPr>
            </a:lvl1pPr>
            <a:lvl2pPr algn="l">
              <a:buNone/>
              <a:defRPr sz="2550" b="1">
                <a:solidFill>
                  <a:srgbClr val="172B3A"/>
                </a:solidFill>
                <a:latin typeface="Arial"/>
                <a:ea typeface="Arial"/>
                <a:cs typeface="Arial"/>
              </a:defRPr>
            </a:lvl2pPr>
            <a:lvl3pPr algn="l">
              <a:buNone/>
              <a:defRPr sz="2550" b="1">
                <a:solidFill>
                  <a:srgbClr val="172B3A"/>
                </a:solidFill>
                <a:latin typeface="Arial"/>
                <a:ea typeface="Arial"/>
                <a:cs typeface="Arial"/>
              </a:defRPr>
            </a:lvl3pPr>
            <a:lvl4pPr algn="l">
              <a:buNone/>
              <a:defRPr sz="2550" b="1">
                <a:solidFill>
                  <a:srgbClr val="172B3A"/>
                </a:solidFill>
                <a:latin typeface="Arial"/>
                <a:ea typeface="Arial"/>
                <a:cs typeface="Arial"/>
              </a:defRPr>
            </a:lvl4pPr>
            <a:lvl5pPr algn="l">
              <a:buNone/>
              <a:defRPr sz="2550" b="1">
                <a:solidFill>
                  <a:srgbClr val="172B3A"/>
                </a:solidFill>
                <a:latin typeface="Arial"/>
                <a:ea typeface="Arial"/>
                <a:cs typeface="Arial"/>
              </a:defRPr>
            </a:lvl5pPr>
            <a:lvl6pPr algn="l">
              <a:buNone/>
              <a:defRPr sz="2550" b="1">
                <a:solidFill>
                  <a:srgbClr val="172B3A"/>
                </a:solidFill>
                <a:latin typeface="Arial"/>
                <a:ea typeface="Arial"/>
                <a:cs typeface="Arial"/>
              </a:defRPr>
            </a:lvl6pPr>
            <a:lvl7pPr algn="l">
              <a:buNone/>
              <a:defRPr sz="2550" b="1">
                <a:solidFill>
                  <a:srgbClr val="172B3A"/>
                </a:solidFill>
                <a:latin typeface="Arial"/>
                <a:ea typeface="Arial"/>
                <a:cs typeface="Arial"/>
              </a:defRPr>
            </a:lvl7pPr>
            <a:lvl8pPr algn="l">
              <a:buNone/>
              <a:defRPr sz="2550" b="1">
                <a:solidFill>
                  <a:srgbClr val="172B3A"/>
                </a:solidFill>
                <a:latin typeface="Arial"/>
                <a:ea typeface="Arial"/>
                <a:cs typeface="Arial"/>
              </a:defRPr>
            </a:lvl8pPr>
            <a:lvl9pPr algn="l">
              <a:buNone/>
              <a:defRPr sz="2550" b="1">
                <a:solidFill>
                  <a:srgbClr val="172B3A"/>
                </a:solidFill>
                <a:latin typeface="Arial"/>
                <a:ea typeface="Arial"/>
                <a:cs typeface="Arial"/>
              </a:defRPr>
            </a:lvl9pPr>
          </a:lstStyle>
          <a:p xmlns:a="http://schemas.openxmlformats.org/drawingml/2006/main">
            <a:pPr algn="l">
              <a:buNone/>
              <a:defRPr sz="2550" b="1">
                <a:solidFill>
                  <a:srgbClr val="172B3A"/>
                </a:solidFill>
                <a:latin typeface="Arial"/>
                <a:ea typeface="Arial"/>
                <a:cs typeface="Arial"/>
              </a:defRPr>
            </a:pPr>
            <a:r>
              <a:rPr sz="2550" b="1">
                <a:solidFill>
                  <a:srgbClr val="172B3A"/>
                </a:solidFill>
                <a:latin typeface="Arial"/>
                <a:ea typeface="Arial"/>
                <a:cs typeface="Arial"/>
              </a:rPr>
              <a:t>Lessons learned and next steps</a:t>
            </a:r>
          </a:p>
        </p:txBody>
      </p:sp>
      <p:sp>
        <p:nvSpPr>
          <p:cNvPr id="3" name="Rectangle 2">
            <a:extLst xmlns:a="http://schemas.openxmlformats.org/drawingml/2006/main">
              <a:ext uri="{FF2B5EF4-FFF2-40B4-BE49-F238E27FC236}">
                <a16:creationId xmlns:a16="http://schemas.microsoft.com/office/drawing/2014/main" id="{E9E0E0BE-C8A6-4C64-B9D5-DBCF28F4A10A}"/>
              </a:ext>
            </a:extLst>
          </p:cNvPr>
          <p:cNvSpPr>
            <a:spLocks xmlns:a="http://schemas.openxmlformats.org/drawingml/2006/main" noGrp="1"/>
          </p:cNvSpPr>
          <p:nvPr/>
        </p:nvSpPr>
        <p:spPr>
          <a:xfrm xmlns:a="http://schemas.openxmlformats.org/drawingml/2006/main">
            <a:off x="502920" y="896112"/>
            <a:ext cx="749808" cy="54864"/>
          </a:xfrm>
          <a:prstGeom xmlns:a="http://schemas.openxmlformats.org/drawingml/2006/main" prst="rect">
            <a:avLst/>
          </a:prstGeom>
          <a:solidFill xmlns:a="http://schemas.openxmlformats.org/drawingml/2006/main">
            <a:srgbClr val="1A8C8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BF7FD12-AB28-4D17-BF3A-BCCBC8648F27}"/>
              </a:ext>
            </a:extLst>
          </p:cNvPr>
          <p:cNvSpPr>
            <a:spLocks xmlns:a="http://schemas.openxmlformats.org/drawingml/2006/main" noGrp="1"/>
          </p:cNvSpPr>
          <p:nvPr/>
        </p:nvSpPr>
        <p:spPr>
          <a:xfrm xmlns:a="http://schemas.openxmlformats.org/drawingml/2006/main">
            <a:off x="493776" y="969264"/>
            <a:ext cx="11155680" cy="3291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400" b="0">
                <a:solidFill>
                  <a:srgbClr val="60727C"/>
                </a:solidFill>
                <a:latin typeface="Arial"/>
                <a:ea typeface="Arial"/>
                <a:cs typeface="Arial"/>
              </a:rPr>
              <a:t>Each lesson links to the challenge log; production work is future work.</a:t>
            </a:r>
          </a:p>
        </p:txBody>
      </p:sp>
      <p:sp>
        <p:nvSpPr>
          <p:cNvPr id="5" name="TextBox 4">
            <a:extLst xmlns:a="http://schemas.openxmlformats.org/drawingml/2006/main">
              <a:ext uri="{FF2B5EF4-FFF2-40B4-BE49-F238E27FC236}">
                <a16:creationId xmlns:a16="http://schemas.microsoft.com/office/drawing/2014/main" id="{213076BB-A76D-4978-8057-D954448C06A3}"/>
              </a:ext>
            </a:extLst>
          </p:cNvPr>
          <p:cNvSpPr>
            <a:spLocks xmlns:a="http://schemas.openxmlformats.org/drawingml/2006/main" noGrp="1"/>
          </p:cNvSpPr>
          <p:nvPr/>
        </p:nvSpPr>
        <p:spPr>
          <a:xfrm xmlns:a="http://schemas.openxmlformats.org/drawingml/2006/main">
            <a:off x="685800" y="1554480"/>
            <a:ext cx="1088136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600" b="1">
                <a:solidFill>
                  <a:srgbClr val="18313F"/>
                </a:solidFill>
                <a:latin typeface="Arial"/>
                <a:ea typeface="Arial"/>
                <a:cs typeface="Arial"/>
              </a:rPr>
              <a:t>#1  Readiness and user success are different signals; alert on real request outcomes.</a:t>
            </a:r>
          </a:p>
        </p:txBody>
      </p:sp>
      <p:sp>
        <p:nvSpPr>
          <p:cNvPr id="6" name="TextBox 5">
            <a:extLst xmlns:a="http://schemas.openxmlformats.org/drawingml/2006/main">
              <a:ext uri="{FF2B5EF4-FFF2-40B4-BE49-F238E27FC236}">
                <a16:creationId xmlns:a16="http://schemas.microsoft.com/office/drawing/2014/main" id="{D2DC102B-C901-40AE-8C1C-6DC2EB9F8600}"/>
              </a:ext>
            </a:extLst>
          </p:cNvPr>
          <p:cNvSpPr>
            <a:spLocks xmlns:a="http://schemas.openxmlformats.org/drawingml/2006/main" noGrp="1"/>
          </p:cNvSpPr>
          <p:nvPr/>
        </p:nvSpPr>
        <p:spPr>
          <a:xfrm xmlns:a="http://schemas.openxmlformats.org/drawingml/2006/main">
            <a:off x="685800" y="2194560"/>
            <a:ext cx="1088136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600" b="0">
                <a:solidFill>
                  <a:srgbClr val="18313F"/>
                </a:solidFill>
                <a:latin typeface="Arial"/>
                <a:ea typeface="Arial"/>
                <a:cs typeface="Arial"/>
              </a:rPr>
              <a:t>#2  Render the exact manifest set before applying; layout affects deploy tooling.</a:t>
            </a:r>
          </a:p>
        </p:txBody>
      </p:sp>
      <p:sp>
        <p:nvSpPr>
          <p:cNvPr id="7" name="TextBox 6">
            <a:extLst xmlns:a="http://schemas.openxmlformats.org/drawingml/2006/main">
              <a:ext uri="{FF2B5EF4-FFF2-40B4-BE49-F238E27FC236}">
                <a16:creationId xmlns:a16="http://schemas.microsoft.com/office/drawing/2014/main" id="{8303BD25-AE55-49A4-9123-1D3F50AA4D5F}"/>
              </a:ext>
            </a:extLst>
          </p:cNvPr>
          <p:cNvSpPr>
            <a:spLocks xmlns:a="http://schemas.openxmlformats.org/drawingml/2006/main" noGrp="1"/>
          </p:cNvSpPr>
          <p:nvPr/>
        </p:nvSpPr>
        <p:spPr>
          <a:xfrm xmlns:a="http://schemas.openxmlformats.org/drawingml/2006/main">
            <a:off x="685800" y="2834639"/>
            <a:ext cx="1088136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600" b="0">
                <a:solidFill>
                  <a:srgbClr val="18313F"/>
                </a:solidFill>
                <a:latin typeface="Arial"/>
                <a:ea typeface="Arial"/>
                <a:cs typeface="Arial"/>
              </a:rPr>
              <a:t>#3  Resource limits need observed headroom; lower Grafana limits restarted the pod.</a:t>
            </a:r>
          </a:p>
        </p:txBody>
      </p:sp>
      <p:sp>
        <p:nvSpPr>
          <p:cNvPr id="8" name="TextBox 7">
            <a:extLst xmlns:a="http://schemas.openxmlformats.org/drawingml/2006/main">
              <a:ext uri="{FF2B5EF4-FFF2-40B4-BE49-F238E27FC236}">
                <a16:creationId xmlns:a16="http://schemas.microsoft.com/office/drawing/2014/main" id="{3B9E19C1-7DBC-4DC1-B86B-4E52540304F8}"/>
              </a:ext>
            </a:extLst>
          </p:cNvPr>
          <p:cNvSpPr>
            <a:spLocks xmlns:a="http://schemas.openxmlformats.org/drawingml/2006/main" noGrp="1"/>
          </p:cNvSpPr>
          <p:nvPr/>
        </p:nvSpPr>
        <p:spPr>
          <a:xfrm xmlns:a="http://schemas.openxmlformats.org/drawingml/2006/main">
            <a:off x="685800" y="3474720"/>
            <a:ext cx="1088136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600" b="0">
                <a:solidFill>
                  <a:srgbClr val="18313F"/>
                </a:solidFill>
                <a:latin typeface="Arial"/>
                <a:ea typeface="Arial"/>
                <a:cs typeface="Arial"/>
              </a:rPr>
              <a:t>#4  Dependency-aware readiness protects traffic without restarting the API process.</a:t>
            </a:r>
          </a:p>
        </p:txBody>
      </p:sp>
      <p:sp>
        <p:nvSpPr>
          <p:cNvPr id="9" name="TextBox 8">
            <a:extLst xmlns:a="http://schemas.openxmlformats.org/drawingml/2006/main">
              <a:ext uri="{FF2B5EF4-FFF2-40B4-BE49-F238E27FC236}">
                <a16:creationId xmlns:a16="http://schemas.microsoft.com/office/drawing/2014/main" id="{C9E46FD4-98E0-4B15-B64C-07AF952B1A2C}"/>
              </a:ext>
            </a:extLst>
          </p:cNvPr>
          <p:cNvSpPr>
            <a:spLocks xmlns:a="http://schemas.openxmlformats.org/drawingml/2006/main" noGrp="1"/>
          </p:cNvSpPr>
          <p:nvPr/>
        </p:nvSpPr>
        <p:spPr>
          <a:xfrm xmlns:a="http://schemas.openxmlformats.org/drawingml/2006/main">
            <a:off x="685800" y="4114800"/>
            <a:ext cx="10881360" cy="3169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r>
              <a:rPr sz="1600" b="0">
                <a:solidFill>
                  <a:srgbClr val="18313F"/>
                </a:solidFill>
                <a:latin typeface="Arial"/>
                <a:ea typeface="Arial"/>
                <a:cs typeface="Arial"/>
              </a:rPr>
              <a:t>#5  Check whether services are running; verify a second apply on a clean target.</a:t>
            </a:r>
          </a:p>
        </p:txBody>
      </p:sp>
      <p:sp>
        <p:nvSpPr>
          <p:cNvPr id="10" name="Rounded Rectangle 9">
            <a:extLst xmlns:a="http://schemas.openxmlformats.org/drawingml/2006/main">
              <a:ext uri="{FF2B5EF4-FFF2-40B4-BE49-F238E27FC236}">
                <a16:creationId xmlns:a16="http://schemas.microsoft.com/office/drawing/2014/main" id="{4397DE86-A55C-4014-9BC7-088F5288DC9B}"/>
              </a:ext>
            </a:extLst>
          </p:cNvPr>
          <p:cNvSpPr>
            <a:spLocks xmlns:a="http://schemas.openxmlformats.org/drawingml/2006/main" noGrp="1"/>
          </p:cNvSpPr>
          <p:nvPr/>
        </p:nvSpPr>
        <p:spPr>
          <a:xfrm xmlns:a="http://schemas.openxmlformats.org/drawingml/2006/main">
            <a:off x="640080" y="5010912"/>
            <a:ext cx="10972800" cy="804672"/>
          </a:xfrm>
          <a:prstGeom xmlns:a="http://schemas.openxmlformats.org/drawingml/2006/main" prst="roundRect">
            <a:avLst/>
          </a:prstGeom>
          <a:solidFill xmlns:a="http://schemas.openxmlformats.org/drawingml/2006/main">
            <a:srgbClr val="EAF3F3"/>
          </a:solidFill>
          <a:ln xmlns:a="http://schemas.openxmlformats.org/drawingml/2006/main" w="14604">
            <a:solidFill>
              <a:srgbClr val="1A8C8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73152" tIns="36576" rIns="73152" bIns="36576" anchor="ctr"/>
          <a:lstStyle xmlns:a="http://schemas.openxmlformats.org/drawingml/2006/main"/>
          <a:p xmlns:a="http://schemas.openxmlformats.org/drawingml/2006/main">
            <a:pPr algn="ctr">
              <a:buNone/>
            </a:pPr>
            <a:r>
              <a:rPr sz="1500" b="1">
                <a:solidFill>
                  <a:srgbClr val="18313F"/>
                </a:solidFill>
                <a:latin typeface="Arial"/>
                <a:ea typeface="Arial"/>
                <a:cs typeface="Arial"/>
              </a:rPr>
              <a:t>Next: use a multi-node cloud cluster; add SLO alerts, real alert routing and GitOps; isolate the self-hosted runner.</a:t>
            </a:r>
          </a:p>
        </p:txBody>
      </p:sp>
      <p:sp>
        <p:nvSpPr>
          <p:cNvPr id="11" name="TextBox 10">
            <a:extLst xmlns:a="http://schemas.openxmlformats.org/drawingml/2006/main">
              <a:ext uri="{FF2B5EF4-FFF2-40B4-BE49-F238E27FC236}">
                <a16:creationId xmlns:a16="http://schemas.microsoft.com/office/drawing/2014/main" id="{BBB2F6F3-07DE-4392-9969-C89AD7832AFB}"/>
              </a:ext>
            </a:extLst>
          </p:cNvPr>
          <p:cNvSpPr>
            <a:spLocks xmlns:a="http://schemas.openxmlformats.org/drawingml/2006/main" noGrp="1"/>
          </p:cNvSpPr>
          <p:nvPr/>
        </p:nvSpPr>
        <p:spPr>
          <a:xfrm xmlns:a="http://schemas.openxmlformats.org/drawingml/2006/main">
            <a:off x="502920" y="6510528"/>
            <a:ext cx="9875520" cy="1874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defPPr>
              <a:defRPr sz="750">
                <a:solidFill>
                  <a:srgbClr val="60727C"/>
                </a:solidFill>
              </a:defRPr>
            </a:defPPr>
            <a:lvl1pPr>
              <a:buNone/>
              <a:defRPr sz="750">
                <a:solidFill>
                  <a:srgbClr val="60727C"/>
                </a:solidFill>
              </a:defRPr>
            </a:lvl1pPr>
            <a:lvl2pPr>
              <a:buNone/>
              <a:defRPr sz="750">
                <a:solidFill>
                  <a:srgbClr val="60727C"/>
                </a:solidFill>
              </a:defRPr>
            </a:lvl2pPr>
            <a:lvl3pPr>
              <a:buNone/>
              <a:defRPr sz="750">
                <a:solidFill>
                  <a:srgbClr val="60727C"/>
                </a:solidFill>
              </a:defRPr>
            </a:lvl3pPr>
            <a:lvl4pPr>
              <a:buNone/>
              <a:defRPr sz="750">
                <a:solidFill>
                  <a:srgbClr val="60727C"/>
                </a:solidFill>
              </a:defRPr>
            </a:lvl4pPr>
            <a:lvl5pPr>
              <a:buNone/>
              <a:defRPr sz="750">
                <a:solidFill>
                  <a:srgbClr val="60727C"/>
                </a:solidFill>
              </a:defRPr>
            </a:lvl5pPr>
            <a:lvl6pPr>
              <a:buNone/>
              <a:defRPr sz="750">
                <a:solidFill>
                  <a:srgbClr val="60727C"/>
                </a:solidFill>
              </a:defRPr>
            </a:lvl6pPr>
            <a:lvl7pPr>
              <a:buNone/>
              <a:defRPr sz="750">
                <a:solidFill>
                  <a:srgbClr val="60727C"/>
                </a:solidFill>
              </a:defRPr>
            </a:lvl7pPr>
            <a:lvl8pPr>
              <a:buNone/>
              <a:defRPr sz="750">
                <a:solidFill>
                  <a:srgbClr val="60727C"/>
                </a:solidFill>
              </a:defRPr>
            </a:lvl8pPr>
            <a:lvl9pPr>
              <a:buNone/>
              <a:defRPr sz="750">
                <a:solidFill>
                  <a:srgbClr val="60727C"/>
                </a:solidFill>
              </a:defRPr>
            </a:lvl9pPr>
          </a:lstStyle>
          <a:p xmlns:a="http://schemas.openxmlformats.org/drawingml/2006/main">
            <a:pPr>
              <a:buNone/>
              <a:defRPr sz="750">
                <a:solidFill>
                  <a:srgbClr val="60727C"/>
                </a:solidFill>
              </a:defRPr>
            </a:pPr>
            <a:r>
              <a:rPr sz="750" b="0">
                <a:solidFill>
                  <a:srgbClr val="60727C"/>
                </a:solidFill>
                <a:latin typeface="Arial"/>
                <a:ea typeface="Arial"/>
                <a:cs typeface="Arial"/>
              </a:rPr>
              <a:t>Harsh Ledwani (23070122100)  |  Shivam Kapure (23070122113)  |  Kashyup Gaud (23070122114)  |  Kisna Kanti (23070122116)</a:t>
            </a:r>
          </a:p>
        </p:txBody>
      </p:sp>
      <p:sp>
        <p:nvSpPr>
          <p:cNvPr id="12" name="TextBox 11">
            <a:extLst xmlns:a="http://schemas.openxmlformats.org/drawingml/2006/main">
              <a:ext uri="{FF2B5EF4-FFF2-40B4-BE49-F238E27FC236}">
                <a16:creationId xmlns:a16="http://schemas.microsoft.com/office/drawing/2014/main" id="{FD0CC38D-7298-488B-8C0E-E0E4051B5F83}"/>
              </a:ext>
            </a:extLst>
          </p:cNvPr>
          <p:cNvSpPr>
            <a:spLocks xmlns:a="http://schemas.openxmlformats.org/drawingml/2006/main" noGrp="1"/>
          </p:cNvSpPr>
          <p:nvPr/>
        </p:nvSpPr>
        <p:spPr>
          <a:xfrm xmlns:a="http://schemas.openxmlformats.org/drawingml/2006/main">
            <a:off x="11201400" y="6492240"/>
            <a:ext cx="411480" cy="1828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00" b="0">
                <a:solidFill>
                  <a:srgbClr val="60727C"/>
                </a:solidFill>
                <a:latin typeface="Arial"/>
                <a:ea typeface="Arial"/>
                <a:cs typeface="Arial"/>
              </a:rPr>
              <a:t>5</a:t>
            </a:r>
          </a:p>
        </p:txBody>
      </p:sp>
    </p:spTree>
    <p:extLst>
      <p:ext uri="{BB962C8B-B14F-4D97-AF65-F5344CB8AC3E}">
        <p14:creationId xmlns:p14="http://schemas.microsoft.com/office/powerpoint/2010/main" val="110392167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2026-10-25T07:18:39.2730000Z</dcterms:created>
  <dcterms:modified xsi:type="dcterms:W3CDTF">2026-10-25T07:18:39.2730000Z</dcterms:modified>
</coreProperties>
</file>