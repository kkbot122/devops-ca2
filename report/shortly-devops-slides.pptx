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Shortly is a small FastAPI URL shortener. A request enters through the local nginx Ingress, passes through a Kubernetes Service, and can reach either API pod. The API pods keep no link state locally; Redis stores links, click counts, rate limits, recent links, and shared demo controls. Redis writes use an append-only file on a persistent volume, although this project runs only one Redis replica. The HPA keeps at least two and can scale to five pods, while the PDB asks Kubernetes to keep one available during disruptions. Liveness checks whether the process is alive; readiness also checks Redis. Prometheus scrapes the service through a ServiceMonitor, Grafana displays the metrics, and Alertmanager evaluates the rules. GitHub Actions builds and scans releases, while Ansible configures the supported runner host. Point at the path from User through Ingress to Redis, then at the monitoring band and the two automation boxes.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workflow separates hosted checks from deployment to the local cluster. Lint and tests run in parallel. A successful build is scanned by Trivy and produces a CycloneDX software bill of materials; only then is the image pushed to GHCR. The self-hosted runner runs only on trusted main-branch release events, not pull requests. Before changing the cluster it checks the context and prerequisites, then pulls the image and verifies that its digest matches the hosted build. It loads that exact image, applies the CI overlay, waits for rollout probes, and verifies smoke requests and release version. A failure triggers automatic rollback, but the workflow remains red so the bad release is visible. The runbook estimates a typical pipeline takes seven to fifteen minutes; that is a documented estimate, not a measurement from GitHub history. Point from lint and tests through GHCR to preflight and digest verification, then show the success and rollback branches.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evidence slots, not simulated screenshots. The repository had no actual UI images when this deck was built, so the frames are pending and should be replaced only with real captures. The numbers come from saved results. The original full scenario run lasted 55.7 minutes and recorded eight passes and one failure: abuse. A later focused abuse rerun passed with 6,309 requests and no unexpected failures, but the complete suite was not rerun, so we should not claim nine out of nine for the full run. Baseline recorded 3,753 requests and zero unexpected failures. The surge test reached three replicas from a baseline of two and returned to two. The Ansible second application in the Ubuntu container changed zero items. Point at the four evidence types, then at the result line and explain the full-suite caveat.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challenge is that Kubernetes readiness can stay green while an application returns errors on ordinary requests. The bad-release scenario showed this: the pods were Ready, the error alert fired, and rollback restored version one. The second challenge was packaging the Kubernetes deployment. The nested Kustomize overlay could not safely refer to its parent directory, so the deploy script generates a temporary sibling overlay, renders it, and applies the full result together. Third, Grafana was OOM-killed at two lower memory limits, so chart values were raised to 512 MiB. Fourth, Redis outage handling needed readiness to fall without restarting the API; the scenario confirmed zero app restarts and link recovery. Finally, the macOS machine was deliberately rejected by the Ubuntu/Debian-only Ansible playbook; positive proof came from Ubuntu 24.04. Point at each problem-to-cause-to-fix line and tie it to its result or commit.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project taught us to verify what users experience, not only whether containers are running. In the silent error release, probes passed but a request-error alert caught the fault. For Kubernetes packaging, deployment tooling should render exactly the set it will apply. Resource limits need evidence because Grafana restarted under two lower limits. Readiness should reflect dependency availability, while liveness should avoid restarting an API process that can recover when Redis returns. Ansible results belong to the supported OS: the Mac was refused safely, and the positive run used Ubuntu 24.04. Next I would use a multi-node cloud cluster, base alerts on service objectives, route alerts to a real receiver, and isolate the self-hosted runner. Point at the challenge numbers beside each lesson, then the future-work box.</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75488" y="256032"/>
            <a:ext cx="11155680" cy="512064"/>
          </a:xfrm>
          <a:prstGeom prst="rect">
            <a:avLst/>
          </a:prstGeom>
          <a:noFill/>
        </p:spPr>
        <p:txBody>
          <a:bodyPr wrap="square" lIns="36576" rIns="36576" tIns="36576" bIns="36576" anchor="ctr">
            <a:spAutoFit/>
          </a:bodyPr>
          <a:lstStyle/>
          <a:p>
            <a:r>
              <a:rPr sz="2900" b="1">
                <a:solidFill>
                  <a:srgbClr val="172B3A"/>
                </a:solidFill>
                <a:latin typeface="Arial"/>
              </a:rPr>
              <a:t>Shortly keeps request state in Redis and releases under observation</a:t>
            </a:r>
          </a:p>
        </p:txBody>
      </p:sp>
      <p:sp>
        <p:nvSpPr>
          <p:cNvPr id="3" name="Rectangle 2"/>
          <p:cNvSpPr/>
          <p:nvPr/>
        </p:nvSpPr>
        <p:spPr>
          <a:xfrm>
            <a:off x="502920" y="896112"/>
            <a:ext cx="749808" cy="54864"/>
          </a:xfrm>
          <a:prstGeom prst="rect">
            <a:avLst/>
          </a:prstGeom>
          <a:solidFill>
            <a:srgbClr val="1A8C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93776" y="969264"/>
            <a:ext cx="11155680" cy="329184"/>
          </a:xfrm>
          <a:prstGeom prst="rect">
            <a:avLst/>
          </a:prstGeom>
          <a:noFill/>
        </p:spPr>
        <p:txBody>
          <a:bodyPr wrap="square" lIns="36576" rIns="36576" tIns="36576" bIns="36576" anchor="ctr">
            <a:spAutoFit/>
          </a:bodyPr>
          <a:lstStyle/>
          <a:p>
            <a:r>
              <a:rPr sz="1400" b="0">
                <a:solidFill>
                  <a:srgbClr val="60727C"/>
                </a:solidFill>
                <a:latin typeface="Arial"/>
              </a:rPr>
              <a:t>Shortly · URL short links · FastAPI / Redis / Minikube / Prometheus / Locust / Ansible</a:t>
            </a:r>
          </a:p>
        </p:txBody>
      </p:sp>
      <p:sp>
        <p:nvSpPr>
          <p:cNvPr id="5" name="Rounded Rectangle 4"/>
          <p:cNvSpPr/>
          <p:nvPr/>
        </p:nvSpPr>
        <p:spPr>
          <a:xfrm>
            <a:off x="457200" y="1920240"/>
            <a:ext cx="960120" cy="658368"/>
          </a:xfrm>
          <a:prstGeom prst="roundRect">
            <a:avLst/>
          </a:prstGeom>
          <a:solidFill>
            <a:srgbClr val="FFFFFF"/>
          </a:solidFill>
          <a:ln w="14604">
            <a:solidFill>
              <a:srgbClr val="D2E2E5"/>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500" b="1">
                <a:solidFill>
                  <a:srgbClr val="18313F"/>
                </a:solidFill>
                <a:latin typeface="Arial"/>
              </a:rPr>
              <a:t>User</a:t>
            </a:r>
          </a:p>
        </p:txBody>
      </p:sp>
      <p:sp>
        <p:nvSpPr>
          <p:cNvPr id="6" name="Rounded Rectangle 5"/>
          <p:cNvSpPr/>
          <p:nvPr/>
        </p:nvSpPr>
        <p:spPr>
          <a:xfrm>
            <a:off x="1691640" y="1920240"/>
            <a:ext cx="1389888" cy="658368"/>
          </a:xfrm>
          <a:prstGeom prst="roundRect">
            <a:avLst/>
          </a:prstGeom>
          <a:solidFill>
            <a:srgbClr val="EEF4F5"/>
          </a:solidFill>
          <a:ln w="14604">
            <a:solidFill>
              <a:srgbClr val="D2E2E5"/>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400" b="1">
                <a:solidFill>
                  <a:srgbClr val="18313F"/>
                </a:solidFill>
                <a:latin typeface="Arial"/>
              </a:rPr>
              <a:t>nginx Ingress
short.local</a:t>
            </a:r>
          </a:p>
        </p:txBody>
      </p:sp>
      <p:sp>
        <p:nvSpPr>
          <p:cNvPr id="7" name="Rounded Rectangle 6"/>
          <p:cNvSpPr/>
          <p:nvPr/>
        </p:nvSpPr>
        <p:spPr>
          <a:xfrm>
            <a:off x="3364992" y="1920240"/>
            <a:ext cx="1188720" cy="658368"/>
          </a:xfrm>
          <a:prstGeom prst="roundRect">
            <a:avLst/>
          </a:prstGeom>
          <a:solidFill>
            <a:srgbClr val="EEF4F5"/>
          </a:solidFill>
          <a:ln w="14604">
            <a:solidFill>
              <a:srgbClr val="D2E2E5"/>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400" b="1">
                <a:solidFill>
                  <a:srgbClr val="18313F"/>
                </a:solidFill>
                <a:latin typeface="Arial"/>
              </a:rPr>
              <a:t>ClusterIP
Service</a:t>
            </a:r>
          </a:p>
        </p:txBody>
      </p:sp>
      <p:sp>
        <p:nvSpPr>
          <p:cNvPr id="8" name="Rounded Rectangle 7"/>
          <p:cNvSpPr/>
          <p:nvPr/>
        </p:nvSpPr>
        <p:spPr>
          <a:xfrm>
            <a:off x="4846320" y="1700784"/>
            <a:ext cx="1938528" cy="1097280"/>
          </a:xfrm>
          <a:prstGeom prst="roundRect">
            <a:avLst/>
          </a:prstGeom>
          <a:solidFill>
            <a:srgbClr val="DDF0EF"/>
          </a:solidFill>
          <a:ln w="14604">
            <a:solidFill>
              <a:srgbClr val="1A8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500" b="1">
                <a:solidFill>
                  <a:srgbClr val="18313F"/>
                </a:solidFill>
                <a:latin typeface="Arial"/>
              </a:rPr>
              <a:t>Shortly API pods
HPA 2–5 · PDB min 1</a:t>
            </a:r>
          </a:p>
        </p:txBody>
      </p:sp>
      <p:sp>
        <p:nvSpPr>
          <p:cNvPr id="9" name="Rounded Rectangle 8"/>
          <p:cNvSpPr/>
          <p:nvPr/>
        </p:nvSpPr>
        <p:spPr>
          <a:xfrm>
            <a:off x="7150608" y="1920240"/>
            <a:ext cx="1261872" cy="658368"/>
          </a:xfrm>
          <a:prstGeom prst="roundRect">
            <a:avLst/>
          </a:prstGeom>
          <a:solidFill>
            <a:srgbClr val="EEF4F5"/>
          </a:solidFill>
          <a:ln w="14604">
            <a:solidFill>
              <a:srgbClr val="D2E2E5"/>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400" b="1">
                <a:solidFill>
                  <a:srgbClr val="18313F"/>
                </a:solidFill>
                <a:latin typeface="Arial"/>
              </a:rPr>
              <a:t>Redis
shared state</a:t>
            </a:r>
          </a:p>
        </p:txBody>
      </p:sp>
      <p:sp>
        <p:nvSpPr>
          <p:cNvPr id="10" name="Rounded Rectangle 9"/>
          <p:cNvSpPr/>
          <p:nvPr/>
        </p:nvSpPr>
        <p:spPr>
          <a:xfrm>
            <a:off x="8668512" y="1920240"/>
            <a:ext cx="960120" cy="658368"/>
          </a:xfrm>
          <a:prstGeom prst="roundRect">
            <a:avLst/>
          </a:prstGeom>
          <a:solidFill>
            <a:srgbClr val="FFFFFF"/>
          </a:solidFill>
          <a:ln w="14604">
            <a:solidFill>
              <a:srgbClr val="D2E2E5"/>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400" b="1">
                <a:solidFill>
                  <a:srgbClr val="18313F"/>
                </a:solidFill>
                <a:latin typeface="Arial"/>
              </a:rPr>
              <a:t>1 Gi PVC
AOF</a:t>
            </a:r>
          </a:p>
        </p:txBody>
      </p:sp>
      <p:cxnSp>
        <p:nvCxnSpPr>
          <p:cNvPr id="11" name="Connector 10"/>
          <p:cNvCxnSpPr/>
          <p:nvPr/>
        </p:nvCxnSpPr>
        <p:spPr>
          <a:xfrm>
            <a:off x="1417320" y="2249424"/>
            <a:ext cx="274320" cy="0"/>
          </a:xfrm>
          <a:prstGeom prst="line">
            <a:avLst/>
          </a:prstGeom>
          <a:ln w="22860">
            <a:solidFill>
              <a:srgbClr val="1A8C8C"/>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3081528" y="2249424"/>
            <a:ext cx="283464" cy="0"/>
          </a:xfrm>
          <a:prstGeom prst="line">
            <a:avLst/>
          </a:prstGeom>
          <a:ln w="22860">
            <a:solidFill>
              <a:srgbClr val="1A8C8C"/>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553712" y="2249424"/>
            <a:ext cx="292608" cy="0"/>
          </a:xfrm>
          <a:prstGeom prst="line">
            <a:avLst/>
          </a:prstGeom>
          <a:ln w="22860">
            <a:solidFill>
              <a:srgbClr val="1A8C8C"/>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6784848" y="2249424"/>
            <a:ext cx="365760" cy="0"/>
          </a:xfrm>
          <a:prstGeom prst="line">
            <a:avLst/>
          </a:prstGeom>
          <a:ln w="22860">
            <a:solidFill>
              <a:srgbClr val="1A8C8C"/>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8412480" y="2249424"/>
            <a:ext cx="256032" cy="0"/>
          </a:xfrm>
          <a:prstGeom prst="line">
            <a:avLst/>
          </a:prstGeom>
          <a:ln w="22860">
            <a:solidFill>
              <a:srgbClr val="1A8C8C"/>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9875520" y="1691640"/>
            <a:ext cx="1847088" cy="1115568"/>
          </a:xfrm>
          <a:prstGeom prst="roundRect">
            <a:avLst/>
          </a:prstGeom>
          <a:solidFill>
            <a:srgbClr val="EAF3F3"/>
          </a:solidFill>
          <a:ln w="14604">
            <a:solidFill>
              <a:srgbClr val="1A8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400" b="1">
                <a:solidFill>
                  <a:srgbClr val="18313F"/>
                </a:solidFill>
                <a:latin typeface="Arial"/>
              </a:rPr>
              <a:t>ServiceMonitor → Prometheus
Grafana dashboard · Alertmanager</a:t>
            </a:r>
          </a:p>
        </p:txBody>
      </p:sp>
      <p:cxnSp>
        <p:nvCxnSpPr>
          <p:cNvPr id="17" name="Connector 16"/>
          <p:cNvCxnSpPr/>
          <p:nvPr/>
        </p:nvCxnSpPr>
        <p:spPr>
          <a:xfrm flipV="1">
            <a:off x="5815584" y="1444752"/>
            <a:ext cx="0" cy="256032"/>
          </a:xfrm>
          <a:prstGeom prst="line">
            <a:avLst/>
          </a:prstGeom>
          <a:ln w="15240">
            <a:solidFill>
              <a:srgbClr val="1A8C8C"/>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5815584" y="1444752"/>
            <a:ext cx="4059936" cy="0"/>
          </a:xfrm>
          <a:prstGeom prst="line">
            <a:avLst/>
          </a:prstGeom>
          <a:ln w="15240">
            <a:solidFill>
              <a:srgbClr val="1A8C8C"/>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9875520" y="1444752"/>
            <a:ext cx="0" cy="246888"/>
          </a:xfrm>
          <a:prstGeom prst="line">
            <a:avLst/>
          </a:prstGeom>
          <a:ln w="15240">
            <a:solidFill>
              <a:srgbClr val="1A8C8C"/>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1005840" y="3675887"/>
            <a:ext cx="3429000" cy="749808"/>
          </a:xfrm>
          <a:prstGeom prst="roundRect">
            <a:avLst/>
          </a:prstGeom>
          <a:solidFill>
            <a:srgbClr val="F2F5F7"/>
          </a:solidFill>
          <a:ln w="14604">
            <a:solidFill>
              <a:srgbClr val="D2E2E5"/>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400" b="1">
                <a:solidFill>
                  <a:srgbClr val="18313F"/>
                </a:solidFill>
                <a:latin typeface="Arial"/>
              </a:rPr>
              <a:t>GitHub Actions
hosted checks → self-hosted deploy</a:t>
            </a:r>
          </a:p>
        </p:txBody>
      </p:sp>
      <p:sp>
        <p:nvSpPr>
          <p:cNvPr id="21" name="Rounded Rectangle 20"/>
          <p:cNvSpPr/>
          <p:nvPr/>
        </p:nvSpPr>
        <p:spPr>
          <a:xfrm>
            <a:off x="4645152" y="3675887"/>
            <a:ext cx="3200400" cy="749808"/>
          </a:xfrm>
          <a:prstGeom prst="roundRect">
            <a:avLst/>
          </a:prstGeom>
          <a:solidFill>
            <a:srgbClr val="F2F5F7"/>
          </a:solidFill>
          <a:ln w="14604">
            <a:solidFill>
              <a:srgbClr val="D2E2E5"/>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400" b="1">
                <a:solidFill>
                  <a:srgbClr val="18313F"/>
                </a:solidFill>
                <a:latin typeface="Arial"/>
              </a:rPr>
              <a:t>Ansible
Debian / Ubuntu host configuration</a:t>
            </a:r>
          </a:p>
        </p:txBody>
      </p:sp>
      <p:cxnSp>
        <p:nvCxnSpPr>
          <p:cNvPr id="22" name="Connector 21"/>
          <p:cNvCxnSpPr/>
          <p:nvPr/>
        </p:nvCxnSpPr>
        <p:spPr>
          <a:xfrm flipH="1">
            <a:off x="4434840" y="4050791"/>
            <a:ext cx="210312" cy="0"/>
          </a:xfrm>
          <a:prstGeom prst="line">
            <a:avLst/>
          </a:prstGeom>
          <a:ln w="15240">
            <a:solidFill>
              <a:srgbClr val="60727C"/>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40080" y="5010912"/>
            <a:ext cx="10972800" cy="640080"/>
          </a:xfrm>
          <a:prstGeom prst="rect">
            <a:avLst/>
          </a:prstGeom>
          <a:noFill/>
        </p:spPr>
        <p:txBody>
          <a:bodyPr wrap="square" lIns="36576" rIns="36576" tIns="36576" bIns="36576" anchor="ctr">
            <a:spAutoFit/>
          </a:bodyPr>
          <a:lstStyle/>
          <a:p>
            <a:pPr algn="ctr"/>
            <a:r>
              <a:rPr sz="1500" b="1">
                <a:solidFill>
                  <a:srgbClr val="18313F"/>
                </a:solidFill>
                <a:latin typeface="Arial"/>
              </a:rPr>
              <a:t>Key choices: stateless API + Redis · readiness checks Redis; liveness does not
maxUnavailable: 0 · one Redis replica in this local demo</a:t>
            </a:r>
          </a:p>
        </p:txBody>
      </p:sp>
      <p:sp>
        <p:nvSpPr>
          <p:cNvPr id="24" name="TextBox 23"/>
          <p:cNvSpPr txBox="1"/>
          <p:nvPr/>
        </p:nvSpPr>
        <p:spPr>
          <a:xfrm>
            <a:off x="640080" y="5760720"/>
            <a:ext cx="10972800" cy="310896"/>
          </a:xfrm>
          <a:prstGeom prst="rect">
            <a:avLst/>
          </a:prstGeom>
          <a:noFill/>
        </p:spPr>
        <p:txBody>
          <a:bodyPr wrap="square" lIns="36576" rIns="36576" tIns="36576" bIns="36576" anchor="ctr">
            <a:spAutoFit/>
          </a:bodyPr>
          <a:lstStyle/>
          <a:p>
            <a:pPr algn="ctr"/>
            <a:r>
              <a:rPr sz="1400" b="0">
                <a:solidFill>
                  <a:srgbClr val="60727C"/>
                </a:solidFill>
                <a:latin typeface="Arial"/>
              </a:rPr>
              <a:t>Metrics scrape the app Service; the local Alertmanager uses a null receiver.</a:t>
            </a:r>
          </a:p>
        </p:txBody>
      </p:sp>
      <p:sp>
        <p:nvSpPr>
          <p:cNvPr id="25" name="TextBox 24"/>
          <p:cNvSpPr txBox="1"/>
          <p:nvPr/>
        </p:nvSpPr>
        <p:spPr>
          <a:xfrm>
            <a:off x="502920" y="6510528"/>
            <a:ext cx="9875520" cy="164592"/>
          </a:xfrm>
          <a:prstGeom prst="rect">
            <a:avLst/>
          </a:prstGeom>
          <a:noFill/>
        </p:spPr>
        <p:txBody>
          <a:bodyPr wrap="square" lIns="36576" rIns="36576" tIns="36576" bIns="36576" anchor="ctr">
            <a:spAutoFit/>
          </a:bodyPr>
          <a:lstStyle/>
          <a:p>
            <a:r>
              <a:rPr sz="900" b="0">
                <a:solidFill>
                  <a:srgbClr val="60727C"/>
                </a:solidFill>
                <a:latin typeface="Arial"/>
              </a:rPr>
              <a:t>Shortly DevOps · CA2 · &lt;Group members&gt;</a:t>
            </a:r>
          </a:p>
        </p:txBody>
      </p:sp>
      <p:sp>
        <p:nvSpPr>
          <p:cNvPr id="26" name="TextBox 25"/>
          <p:cNvSpPr txBox="1"/>
          <p:nvPr/>
        </p:nvSpPr>
        <p:spPr>
          <a:xfrm>
            <a:off x="11201400" y="6492240"/>
            <a:ext cx="411480" cy="182880"/>
          </a:xfrm>
          <a:prstGeom prst="rect">
            <a:avLst/>
          </a:prstGeom>
          <a:noFill/>
        </p:spPr>
        <p:txBody>
          <a:bodyPr wrap="square" lIns="36576" rIns="36576" tIns="36576" bIns="36576" anchor="ctr">
            <a:spAutoFit/>
          </a:bodyPr>
          <a:lstStyle/>
          <a:p>
            <a:pPr algn="r"/>
            <a:r>
              <a:rPr sz="1000" b="0">
                <a:solidFill>
                  <a:srgbClr val="60727C"/>
                </a:solidFill>
                <a:latin typeface="Arial"/>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75488" y="256032"/>
            <a:ext cx="11155680" cy="512064"/>
          </a:xfrm>
          <a:prstGeom prst="rect">
            <a:avLst/>
          </a:prstGeom>
          <a:noFill/>
        </p:spPr>
        <p:txBody>
          <a:bodyPr wrap="square" lIns="36576" rIns="36576" tIns="36576" bIns="36576" anchor="ctr">
            <a:spAutoFit/>
          </a:bodyPr>
          <a:lstStyle/>
          <a:p>
            <a:r>
              <a:rPr sz="2900" b="1">
                <a:solidFill>
                  <a:srgbClr val="172B3A"/>
                </a:solidFill>
                <a:latin typeface="Arial"/>
              </a:rPr>
              <a:t>A scanned image must pass local-cluster gates before it deploys</a:t>
            </a:r>
          </a:p>
        </p:txBody>
      </p:sp>
      <p:sp>
        <p:nvSpPr>
          <p:cNvPr id="3" name="Rectangle 2"/>
          <p:cNvSpPr/>
          <p:nvPr/>
        </p:nvSpPr>
        <p:spPr>
          <a:xfrm>
            <a:off x="502920" y="896112"/>
            <a:ext cx="749808" cy="54864"/>
          </a:xfrm>
          <a:prstGeom prst="rect">
            <a:avLst/>
          </a:prstGeom>
          <a:solidFill>
            <a:srgbClr val="1A8C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93776" y="969264"/>
            <a:ext cx="11155680" cy="329184"/>
          </a:xfrm>
          <a:prstGeom prst="rect">
            <a:avLst/>
          </a:prstGeom>
          <a:noFill/>
        </p:spPr>
        <p:txBody>
          <a:bodyPr wrap="square" lIns="36576" rIns="36576" tIns="36576" bIns="36576" anchor="ctr">
            <a:spAutoFit/>
          </a:bodyPr>
          <a:lstStyle/>
          <a:p>
            <a:r>
              <a:rPr sz="1400" b="0">
                <a:solidFill>
                  <a:srgbClr val="60727C"/>
                </a:solidFill>
                <a:latin typeface="Arial"/>
              </a:rPr>
              <a:t>Hosted checks protect builds; a guarded self-hosted runner updates Minikube.</a:t>
            </a:r>
          </a:p>
        </p:txBody>
      </p:sp>
      <p:sp>
        <p:nvSpPr>
          <p:cNvPr id="5" name="Rounded Rectangle 4"/>
          <p:cNvSpPr/>
          <p:nvPr/>
        </p:nvSpPr>
        <p:spPr>
          <a:xfrm>
            <a:off x="475488" y="1591056"/>
            <a:ext cx="2194560" cy="768096"/>
          </a:xfrm>
          <a:prstGeom prst="roundRect">
            <a:avLst/>
          </a:prstGeom>
          <a:solidFill>
            <a:srgbClr val="EAF3F3"/>
          </a:solidFill>
          <a:ln w="14604">
            <a:solidFill>
              <a:srgbClr val="1A8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500" b="1">
                <a:solidFill>
                  <a:srgbClr val="18313F"/>
                </a:solidFill>
                <a:latin typeface="Arial"/>
              </a:rPr>
              <a:t>Push</a:t>
            </a:r>
          </a:p>
        </p:txBody>
      </p:sp>
      <p:sp>
        <p:nvSpPr>
          <p:cNvPr id="6" name="Rounded Rectangle 5"/>
          <p:cNvSpPr/>
          <p:nvPr/>
        </p:nvSpPr>
        <p:spPr>
          <a:xfrm>
            <a:off x="3246120" y="1591056"/>
            <a:ext cx="2194560" cy="768096"/>
          </a:xfrm>
          <a:prstGeom prst="roundRect">
            <a:avLst/>
          </a:prstGeom>
          <a:solidFill>
            <a:srgbClr val="EAF3F3"/>
          </a:solidFill>
          <a:ln w="14604">
            <a:solidFill>
              <a:srgbClr val="1A8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500" b="1">
                <a:solidFill>
                  <a:srgbClr val="18313F"/>
                </a:solidFill>
                <a:latin typeface="Arial"/>
              </a:rPr>
              <a:t>Lint ∥ test</a:t>
            </a:r>
          </a:p>
        </p:txBody>
      </p:sp>
      <p:sp>
        <p:nvSpPr>
          <p:cNvPr id="7" name="Rounded Rectangle 6"/>
          <p:cNvSpPr/>
          <p:nvPr/>
        </p:nvSpPr>
        <p:spPr>
          <a:xfrm>
            <a:off x="6016752" y="1591056"/>
            <a:ext cx="2194560" cy="768096"/>
          </a:xfrm>
          <a:prstGeom prst="roundRect">
            <a:avLst/>
          </a:prstGeom>
          <a:solidFill>
            <a:srgbClr val="EAF3F3"/>
          </a:solidFill>
          <a:ln w="14604">
            <a:solidFill>
              <a:srgbClr val="1A8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500" b="1">
                <a:solidFill>
                  <a:srgbClr val="18313F"/>
                </a:solidFill>
                <a:latin typeface="Arial"/>
              </a:rPr>
              <a:t>Build image
Trivy + SBOM</a:t>
            </a:r>
          </a:p>
        </p:txBody>
      </p:sp>
      <p:sp>
        <p:nvSpPr>
          <p:cNvPr id="8" name="Rounded Rectangle 7"/>
          <p:cNvSpPr/>
          <p:nvPr/>
        </p:nvSpPr>
        <p:spPr>
          <a:xfrm>
            <a:off x="8787384" y="1591056"/>
            <a:ext cx="2194560" cy="768096"/>
          </a:xfrm>
          <a:prstGeom prst="roundRect">
            <a:avLst/>
          </a:prstGeom>
          <a:solidFill>
            <a:srgbClr val="EAF3F3"/>
          </a:solidFill>
          <a:ln w="14604">
            <a:solidFill>
              <a:srgbClr val="1A8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500" b="1">
                <a:solidFill>
                  <a:srgbClr val="18313F"/>
                </a:solidFill>
                <a:latin typeface="Arial"/>
              </a:rPr>
              <a:t>Push to GHCR</a:t>
            </a:r>
          </a:p>
        </p:txBody>
      </p:sp>
      <p:cxnSp>
        <p:nvCxnSpPr>
          <p:cNvPr id="9" name="Connector 8"/>
          <p:cNvCxnSpPr/>
          <p:nvPr/>
        </p:nvCxnSpPr>
        <p:spPr>
          <a:xfrm>
            <a:off x="2724912" y="1975104"/>
            <a:ext cx="475488" cy="0"/>
          </a:xfrm>
          <a:prstGeom prst="line">
            <a:avLst/>
          </a:prstGeom>
          <a:ln w="22860">
            <a:solidFill>
              <a:srgbClr val="1A8C8C"/>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495544" y="1975104"/>
            <a:ext cx="475487" cy="0"/>
          </a:xfrm>
          <a:prstGeom prst="line">
            <a:avLst/>
          </a:prstGeom>
          <a:ln w="22860">
            <a:solidFill>
              <a:srgbClr val="1A8C8C"/>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66175" y="1975104"/>
            <a:ext cx="475488" cy="0"/>
          </a:xfrm>
          <a:prstGeom prst="line">
            <a:avLst/>
          </a:prstGeom>
          <a:ln w="22860">
            <a:solidFill>
              <a:srgbClr val="1A8C8C"/>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02920" y="1307592"/>
            <a:ext cx="3017520" cy="228600"/>
          </a:xfrm>
          <a:prstGeom prst="rect">
            <a:avLst/>
          </a:prstGeom>
          <a:noFill/>
        </p:spPr>
        <p:txBody>
          <a:bodyPr wrap="square" lIns="36576" rIns="36576" tIns="36576" bIns="36576" anchor="ctr">
            <a:spAutoFit/>
          </a:bodyPr>
          <a:lstStyle/>
          <a:p>
            <a:r>
              <a:rPr sz="1200" b="1">
                <a:solidFill>
                  <a:srgbClr val="1A8C8C"/>
                </a:solidFill>
                <a:latin typeface="Arial"/>
              </a:rPr>
              <a:t>GITHUB-HOSTED RUNNERS</a:t>
            </a:r>
          </a:p>
        </p:txBody>
      </p:sp>
      <p:sp>
        <p:nvSpPr>
          <p:cNvPr id="13" name="Rounded Rectangle 12"/>
          <p:cNvSpPr/>
          <p:nvPr/>
        </p:nvSpPr>
        <p:spPr>
          <a:xfrm>
            <a:off x="475488" y="2852928"/>
            <a:ext cx="2194560" cy="822960"/>
          </a:xfrm>
          <a:prstGeom prst="roundRect">
            <a:avLst/>
          </a:prstGeom>
          <a:solidFill>
            <a:srgbClr val="FFF7E9"/>
          </a:solidFill>
          <a:ln w="14604">
            <a:solidFill>
              <a:srgbClr val="C07A1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500" b="1">
                <a:solidFill>
                  <a:srgbClr val="18313F"/>
                </a:solidFill>
                <a:latin typeface="Arial"/>
              </a:rPr>
              <a:t>Preflight +
context guard</a:t>
            </a:r>
          </a:p>
        </p:txBody>
      </p:sp>
      <p:sp>
        <p:nvSpPr>
          <p:cNvPr id="14" name="Rounded Rectangle 13"/>
          <p:cNvSpPr/>
          <p:nvPr/>
        </p:nvSpPr>
        <p:spPr>
          <a:xfrm>
            <a:off x="3246120" y="2852928"/>
            <a:ext cx="2194560" cy="822960"/>
          </a:xfrm>
          <a:prstGeom prst="roundRect">
            <a:avLst/>
          </a:prstGeom>
          <a:solidFill>
            <a:srgbClr val="FFF7E9"/>
          </a:solidFill>
          <a:ln w="14604">
            <a:solidFill>
              <a:srgbClr val="C07A1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500" b="1">
                <a:solidFill>
                  <a:srgbClr val="18313F"/>
                </a:solidFill>
                <a:latin typeface="Arial"/>
              </a:rPr>
              <a:t>Verify image
digest</a:t>
            </a:r>
          </a:p>
        </p:txBody>
      </p:sp>
      <p:sp>
        <p:nvSpPr>
          <p:cNvPr id="15" name="Rounded Rectangle 14"/>
          <p:cNvSpPr/>
          <p:nvPr/>
        </p:nvSpPr>
        <p:spPr>
          <a:xfrm>
            <a:off x="6016752" y="2852928"/>
            <a:ext cx="2194560" cy="822960"/>
          </a:xfrm>
          <a:prstGeom prst="roundRect">
            <a:avLst/>
          </a:prstGeom>
          <a:solidFill>
            <a:srgbClr val="FFF7E9"/>
          </a:solidFill>
          <a:ln w="14604">
            <a:solidFill>
              <a:srgbClr val="C07A1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500" b="1">
                <a:solidFill>
                  <a:srgbClr val="18313F"/>
                </a:solidFill>
                <a:latin typeface="Arial"/>
              </a:rPr>
              <a:t>Load + deploy
overlay</a:t>
            </a:r>
          </a:p>
        </p:txBody>
      </p:sp>
      <p:sp>
        <p:nvSpPr>
          <p:cNvPr id="16" name="Rounded Rectangle 15"/>
          <p:cNvSpPr/>
          <p:nvPr/>
        </p:nvSpPr>
        <p:spPr>
          <a:xfrm>
            <a:off x="8787384" y="2852928"/>
            <a:ext cx="2194560" cy="822960"/>
          </a:xfrm>
          <a:prstGeom prst="roundRect">
            <a:avLst/>
          </a:prstGeom>
          <a:solidFill>
            <a:srgbClr val="FFF7E9"/>
          </a:solidFill>
          <a:ln w="14604">
            <a:solidFill>
              <a:srgbClr val="C07A1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500" b="1">
                <a:solidFill>
                  <a:srgbClr val="18313F"/>
                </a:solidFill>
                <a:latin typeface="Arial"/>
              </a:rPr>
              <a:t>Rollout probes
smoke + version</a:t>
            </a:r>
          </a:p>
        </p:txBody>
      </p:sp>
      <p:cxnSp>
        <p:nvCxnSpPr>
          <p:cNvPr id="17" name="Connector 16"/>
          <p:cNvCxnSpPr/>
          <p:nvPr/>
        </p:nvCxnSpPr>
        <p:spPr>
          <a:xfrm>
            <a:off x="2724912" y="3264408"/>
            <a:ext cx="475488" cy="0"/>
          </a:xfrm>
          <a:prstGeom prst="line">
            <a:avLst/>
          </a:prstGeom>
          <a:ln w="22860">
            <a:solidFill>
              <a:srgbClr val="C07A1A"/>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5495544" y="3264408"/>
            <a:ext cx="475487" cy="0"/>
          </a:xfrm>
          <a:prstGeom prst="line">
            <a:avLst/>
          </a:prstGeom>
          <a:ln w="22860">
            <a:solidFill>
              <a:srgbClr val="C07A1A"/>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8266175" y="3264408"/>
            <a:ext cx="475488" cy="0"/>
          </a:xfrm>
          <a:prstGeom prst="line">
            <a:avLst/>
          </a:prstGeom>
          <a:ln w="22860">
            <a:solidFill>
              <a:srgbClr val="C07A1A"/>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9893808" y="2359152"/>
            <a:ext cx="0" cy="301752"/>
          </a:xfrm>
          <a:prstGeom prst="line">
            <a:avLst/>
          </a:prstGeom>
          <a:ln w="16510">
            <a:solidFill>
              <a:srgbClr val="60727C"/>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a:off x="1572768" y="2660904"/>
            <a:ext cx="8321040" cy="0"/>
          </a:xfrm>
          <a:prstGeom prst="line">
            <a:avLst/>
          </a:prstGeom>
          <a:ln w="16510">
            <a:solidFill>
              <a:srgbClr val="60727C"/>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1572768" y="2660904"/>
            <a:ext cx="0" cy="192024"/>
          </a:xfrm>
          <a:prstGeom prst="line">
            <a:avLst/>
          </a:prstGeom>
          <a:ln w="16510">
            <a:solidFill>
              <a:srgbClr val="60727C"/>
            </a:solidFill>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6446520" y="3913632"/>
            <a:ext cx="2240280" cy="566928"/>
          </a:xfrm>
          <a:prstGeom prst="roundRect">
            <a:avLst/>
          </a:prstGeom>
          <a:solidFill>
            <a:srgbClr val="EAF3F3"/>
          </a:solidFill>
          <a:ln w="14604">
            <a:solidFill>
              <a:srgbClr val="1A8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400" b="1">
                <a:solidFill>
                  <a:srgbClr val="18313F"/>
                </a:solidFill>
                <a:latin typeface="Arial"/>
              </a:rPr>
              <a:t>PASS → deployed</a:t>
            </a:r>
          </a:p>
        </p:txBody>
      </p:sp>
      <p:sp>
        <p:nvSpPr>
          <p:cNvPr id="24" name="Rounded Rectangle 23"/>
          <p:cNvSpPr/>
          <p:nvPr/>
        </p:nvSpPr>
        <p:spPr>
          <a:xfrm>
            <a:off x="9006840" y="3840480"/>
            <a:ext cx="2331720" cy="713232"/>
          </a:xfrm>
          <a:prstGeom prst="roundRect">
            <a:avLst/>
          </a:prstGeom>
          <a:solidFill>
            <a:srgbClr val="FFF2E1"/>
          </a:solidFill>
          <a:ln w="14604">
            <a:solidFill>
              <a:srgbClr val="C07A1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400" b="1">
                <a:solidFill>
                  <a:srgbClr val="18313F"/>
                </a:solidFill>
                <a:latin typeface="Arial"/>
              </a:rPr>
              <a:t>FAIL → automatic undo
release job remains red</a:t>
            </a:r>
          </a:p>
        </p:txBody>
      </p:sp>
      <p:cxnSp>
        <p:nvCxnSpPr>
          <p:cNvPr id="25" name="Connector 24"/>
          <p:cNvCxnSpPr/>
          <p:nvPr/>
        </p:nvCxnSpPr>
        <p:spPr>
          <a:xfrm flipH="1">
            <a:off x="7562088" y="3675887"/>
            <a:ext cx="2587752" cy="237745"/>
          </a:xfrm>
          <a:prstGeom prst="line">
            <a:avLst/>
          </a:prstGeom>
          <a:ln w="15240">
            <a:solidFill>
              <a:srgbClr val="1A8C8C"/>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H="1">
            <a:off x="10149840" y="3675887"/>
            <a:ext cx="640080" cy="164593"/>
          </a:xfrm>
          <a:prstGeom prst="line">
            <a:avLst/>
          </a:prstGeom>
          <a:ln w="15240">
            <a:solidFill>
              <a:srgbClr val="C07A1A"/>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502920" y="4069080"/>
            <a:ext cx="5303520" cy="320040"/>
          </a:xfrm>
          <a:prstGeom prst="rect">
            <a:avLst/>
          </a:prstGeom>
          <a:noFill/>
        </p:spPr>
        <p:txBody>
          <a:bodyPr wrap="square" lIns="36576" rIns="36576" tIns="36576" bIns="36576" anchor="ctr">
            <a:spAutoFit/>
          </a:bodyPr>
          <a:lstStyle/>
          <a:p>
            <a:r>
              <a:rPr sz="1400" b="1">
                <a:solidFill>
                  <a:srgbClr val="18313F"/>
                </a:solidFill>
                <a:latin typeface="Arial"/>
              </a:rPr>
              <a:t>Typical duration: 7–15 min (runbook estimate · docs/cicd.md)</a:t>
            </a:r>
          </a:p>
        </p:txBody>
      </p:sp>
      <p:sp>
        <p:nvSpPr>
          <p:cNvPr id="28" name="Rectangle 27"/>
          <p:cNvSpPr/>
          <p:nvPr/>
        </p:nvSpPr>
        <p:spPr>
          <a:xfrm>
            <a:off x="502920" y="4599432"/>
            <a:ext cx="5349240" cy="960120"/>
          </a:xfrm>
          <a:prstGeom prst="rect">
            <a:avLst/>
          </a:prstGeom>
          <a:solidFill>
            <a:srgbClr val="F6F8F9"/>
          </a:solidFill>
          <a:ln w="12700">
            <a:solidFill>
              <a:srgbClr val="60727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12648" y="4924044"/>
            <a:ext cx="5129783" cy="329184"/>
          </a:xfrm>
          <a:prstGeom prst="rect">
            <a:avLst/>
          </a:prstGeom>
          <a:noFill/>
        </p:spPr>
        <p:txBody>
          <a:bodyPr wrap="square" lIns="36576" rIns="36576" tIns="36576" bIns="36576" anchor="ctr">
            <a:spAutoFit/>
          </a:bodyPr>
          <a:lstStyle/>
          <a:p>
            <a:pPr algn="ctr"/>
            <a:r>
              <a:rPr sz="1200" b="1">
                <a:solidFill>
                  <a:srgbClr val="60727C"/>
                </a:solidFill>
                <a:latin typeface="Arial"/>
              </a:rPr>
              <a:t>SCREENSHOT PENDING: 10-pipeline-green.png</a:t>
            </a:r>
          </a:p>
        </p:txBody>
      </p:sp>
      <p:sp>
        <p:nvSpPr>
          <p:cNvPr id="30" name="TextBox 29"/>
          <p:cNvSpPr txBox="1"/>
          <p:nvPr/>
        </p:nvSpPr>
        <p:spPr>
          <a:xfrm>
            <a:off x="502920" y="5577840"/>
            <a:ext cx="5349240" cy="256032"/>
          </a:xfrm>
          <a:prstGeom prst="rect">
            <a:avLst/>
          </a:prstGeom>
          <a:noFill/>
        </p:spPr>
        <p:txBody>
          <a:bodyPr wrap="square" lIns="36576" rIns="36576" tIns="36576" bIns="36576" anchor="ctr">
            <a:spAutoFit/>
          </a:bodyPr>
          <a:lstStyle/>
          <a:p>
            <a:r>
              <a:rPr sz="1400" b="1">
                <a:solidFill>
                  <a:srgbClr val="18313F"/>
                </a:solidFill>
                <a:latin typeface="Arial"/>
              </a:rPr>
              <a:t>Green workflow run</a:t>
            </a:r>
          </a:p>
        </p:txBody>
      </p:sp>
      <p:sp>
        <p:nvSpPr>
          <p:cNvPr id="31" name="Rectangle 30"/>
          <p:cNvSpPr/>
          <p:nvPr/>
        </p:nvSpPr>
        <p:spPr>
          <a:xfrm>
            <a:off x="6309360" y="4599432"/>
            <a:ext cx="5349240" cy="960120"/>
          </a:xfrm>
          <a:prstGeom prst="rect">
            <a:avLst/>
          </a:prstGeom>
          <a:solidFill>
            <a:srgbClr val="F6F8F9"/>
          </a:solidFill>
          <a:ln w="12700">
            <a:solidFill>
              <a:srgbClr val="60727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19088" y="4924044"/>
            <a:ext cx="5129783" cy="329184"/>
          </a:xfrm>
          <a:prstGeom prst="rect">
            <a:avLst/>
          </a:prstGeom>
          <a:noFill/>
        </p:spPr>
        <p:txBody>
          <a:bodyPr wrap="square" lIns="36576" rIns="36576" tIns="36576" bIns="36576" anchor="ctr">
            <a:spAutoFit/>
          </a:bodyPr>
          <a:lstStyle/>
          <a:p>
            <a:pPr algn="ctr"/>
            <a:r>
              <a:rPr sz="1200" b="1">
                <a:solidFill>
                  <a:srgbClr val="60727C"/>
                </a:solidFill>
                <a:latin typeface="Arial"/>
              </a:rPr>
              <a:t>SCREENSHOT PENDING: 11-pipeline-autorollback.png</a:t>
            </a:r>
          </a:p>
        </p:txBody>
      </p:sp>
      <p:sp>
        <p:nvSpPr>
          <p:cNvPr id="33" name="TextBox 32"/>
          <p:cNvSpPr txBox="1"/>
          <p:nvPr/>
        </p:nvSpPr>
        <p:spPr>
          <a:xfrm>
            <a:off x="6309360" y="5577840"/>
            <a:ext cx="5349240" cy="256032"/>
          </a:xfrm>
          <a:prstGeom prst="rect">
            <a:avLst/>
          </a:prstGeom>
          <a:noFill/>
        </p:spPr>
        <p:txBody>
          <a:bodyPr wrap="square" lIns="36576" rIns="36576" tIns="36576" bIns="36576" anchor="ctr">
            <a:spAutoFit/>
          </a:bodyPr>
          <a:lstStyle/>
          <a:p>
            <a:r>
              <a:rPr sz="1400" b="1">
                <a:solidFill>
                  <a:srgbClr val="18313F"/>
                </a:solidFill>
                <a:latin typeface="Arial"/>
              </a:rPr>
              <a:t>Failed release with automatic rollback</a:t>
            </a:r>
          </a:p>
        </p:txBody>
      </p:sp>
      <p:sp>
        <p:nvSpPr>
          <p:cNvPr id="34" name="TextBox 33"/>
          <p:cNvSpPr txBox="1"/>
          <p:nvPr/>
        </p:nvSpPr>
        <p:spPr>
          <a:xfrm>
            <a:off x="502920" y="6510528"/>
            <a:ext cx="9875520" cy="164592"/>
          </a:xfrm>
          <a:prstGeom prst="rect">
            <a:avLst/>
          </a:prstGeom>
          <a:noFill/>
        </p:spPr>
        <p:txBody>
          <a:bodyPr wrap="square" lIns="36576" rIns="36576" tIns="36576" bIns="36576" anchor="ctr">
            <a:spAutoFit/>
          </a:bodyPr>
          <a:lstStyle/>
          <a:p>
            <a:r>
              <a:rPr sz="900" b="0">
                <a:solidFill>
                  <a:srgbClr val="60727C"/>
                </a:solidFill>
                <a:latin typeface="Arial"/>
              </a:rPr>
              <a:t>Shortly DevOps · CA2 · &lt;Group members&gt;</a:t>
            </a:r>
          </a:p>
        </p:txBody>
      </p:sp>
      <p:sp>
        <p:nvSpPr>
          <p:cNvPr id="35" name="TextBox 34"/>
          <p:cNvSpPr txBox="1"/>
          <p:nvPr/>
        </p:nvSpPr>
        <p:spPr>
          <a:xfrm>
            <a:off x="11201400" y="6492240"/>
            <a:ext cx="411480" cy="182880"/>
          </a:xfrm>
          <a:prstGeom prst="rect">
            <a:avLst/>
          </a:prstGeom>
          <a:noFill/>
        </p:spPr>
        <p:txBody>
          <a:bodyPr wrap="square" lIns="36576" rIns="36576" tIns="36576" bIns="36576" anchor="ctr">
            <a:spAutoFit/>
          </a:bodyPr>
          <a:lstStyle/>
          <a:p>
            <a:pPr algn="r"/>
            <a:r>
              <a:rPr sz="1000" b="0">
                <a:solidFill>
                  <a:srgbClr val="60727C"/>
                </a:solidFill>
                <a:latin typeface="Aria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75488" y="256032"/>
            <a:ext cx="11155680" cy="512064"/>
          </a:xfrm>
          <a:prstGeom prst="rect">
            <a:avLst/>
          </a:prstGeom>
          <a:noFill/>
        </p:spPr>
        <p:txBody>
          <a:bodyPr wrap="square" lIns="36576" rIns="36576" tIns="36576" bIns="36576" anchor="ctr">
            <a:spAutoFit/>
          </a:bodyPr>
          <a:lstStyle/>
          <a:p>
            <a:r>
              <a:rPr sz="2900" b="1">
                <a:solidFill>
                  <a:srgbClr val="172B3A"/>
                </a:solidFill>
                <a:latin typeface="Arial"/>
              </a:rPr>
              <a:t>Saved scenarios show resilience, with one suite caveat</a:t>
            </a:r>
          </a:p>
        </p:txBody>
      </p:sp>
      <p:sp>
        <p:nvSpPr>
          <p:cNvPr id="3" name="Rectangle 2"/>
          <p:cNvSpPr/>
          <p:nvPr/>
        </p:nvSpPr>
        <p:spPr>
          <a:xfrm>
            <a:off x="502920" y="896112"/>
            <a:ext cx="749808" cy="54864"/>
          </a:xfrm>
          <a:prstGeom prst="rect">
            <a:avLst/>
          </a:prstGeom>
          <a:solidFill>
            <a:srgbClr val="1A8C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93776" y="969264"/>
            <a:ext cx="11155680" cy="329184"/>
          </a:xfrm>
          <a:prstGeom prst="rect">
            <a:avLst/>
          </a:prstGeom>
          <a:noFill/>
        </p:spPr>
        <p:txBody>
          <a:bodyPr wrap="square" lIns="36576" rIns="36576" tIns="36576" bIns="36576" anchor="ctr">
            <a:spAutoFit/>
          </a:bodyPr>
          <a:lstStyle/>
          <a:p>
            <a:r>
              <a:rPr sz="1400" b="0">
                <a:solidFill>
                  <a:srgbClr val="60727C"/>
                </a:solidFill>
                <a:latin typeface="Arial"/>
              </a:rPr>
              <a:t>Committed load-test and Ansible evidence; missing UI captures remain pending.</a:t>
            </a:r>
          </a:p>
        </p:txBody>
      </p:sp>
      <p:sp>
        <p:nvSpPr>
          <p:cNvPr id="5" name="Rectangle 4"/>
          <p:cNvSpPr/>
          <p:nvPr/>
        </p:nvSpPr>
        <p:spPr>
          <a:xfrm>
            <a:off x="548640" y="1572768"/>
            <a:ext cx="5376672" cy="1060704"/>
          </a:xfrm>
          <a:prstGeom prst="rect">
            <a:avLst/>
          </a:prstGeom>
          <a:solidFill>
            <a:srgbClr val="F6F8F9"/>
          </a:solidFill>
          <a:ln w="12700">
            <a:solidFill>
              <a:srgbClr val="60727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1947672"/>
            <a:ext cx="5157216" cy="329184"/>
          </a:xfrm>
          <a:prstGeom prst="rect">
            <a:avLst/>
          </a:prstGeom>
          <a:noFill/>
        </p:spPr>
        <p:txBody>
          <a:bodyPr wrap="square" lIns="36576" rIns="36576" tIns="36576" bIns="36576" anchor="ctr">
            <a:spAutoFit/>
          </a:bodyPr>
          <a:lstStyle/>
          <a:p>
            <a:pPr algn="ctr"/>
            <a:r>
              <a:rPr sz="1200" b="1">
                <a:solidFill>
                  <a:srgbClr val="60727C"/>
                </a:solidFill>
                <a:latin typeface="Arial"/>
              </a:rPr>
              <a:t>SCREENSHOT PENDING: 01-baseline-overview.png</a:t>
            </a:r>
          </a:p>
        </p:txBody>
      </p:sp>
      <p:sp>
        <p:nvSpPr>
          <p:cNvPr id="7" name="TextBox 6"/>
          <p:cNvSpPr txBox="1"/>
          <p:nvPr/>
        </p:nvSpPr>
        <p:spPr>
          <a:xfrm>
            <a:off x="548640" y="2651760"/>
            <a:ext cx="5376672" cy="256032"/>
          </a:xfrm>
          <a:prstGeom prst="rect">
            <a:avLst/>
          </a:prstGeom>
          <a:noFill/>
        </p:spPr>
        <p:txBody>
          <a:bodyPr wrap="square" lIns="36576" rIns="36576" tIns="36576" bIns="36576" anchor="ctr">
            <a:spAutoFit/>
          </a:bodyPr>
          <a:lstStyle/>
          <a:p>
            <a:r>
              <a:rPr sz="1400" b="1">
                <a:solidFill>
                  <a:srgbClr val="18313F"/>
                </a:solidFill>
                <a:latin typeface="Arial"/>
              </a:rPr>
              <a:t>Grafana overview under baseline traffic</a:t>
            </a:r>
          </a:p>
        </p:txBody>
      </p:sp>
      <p:sp>
        <p:nvSpPr>
          <p:cNvPr id="8" name="Rectangle 7"/>
          <p:cNvSpPr/>
          <p:nvPr/>
        </p:nvSpPr>
        <p:spPr>
          <a:xfrm>
            <a:off x="6263640" y="1572768"/>
            <a:ext cx="5376672" cy="1060704"/>
          </a:xfrm>
          <a:prstGeom prst="rect">
            <a:avLst/>
          </a:prstGeom>
          <a:solidFill>
            <a:srgbClr val="F6F8F9"/>
          </a:solidFill>
          <a:ln w="12700">
            <a:solidFill>
              <a:srgbClr val="60727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73368" y="1947672"/>
            <a:ext cx="5157216" cy="329184"/>
          </a:xfrm>
          <a:prstGeom prst="rect">
            <a:avLst/>
          </a:prstGeom>
          <a:noFill/>
        </p:spPr>
        <p:txBody>
          <a:bodyPr wrap="square" lIns="36576" rIns="36576" tIns="36576" bIns="36576" anchor="ctr">
            <a:spAutoFit/>
          </a:bodyPr>
          <a:lstStyle/>
          <a:p>
            <a:pPr algn="ctr"/>
            <a:r>
              <a:rPr sz="1200" b="1">
                <a:solidFill>
                  <a:srgbClr val="60727C"/>
                </a:solidFill>
                <a:latin typeface="Arial"/>
              </a:rPr>
              <a:t>SCREENSHOT PENDING: 17-rolling-update-probe.png</a:t>
            </a:r>
          </a:p>
        </p:txBody>
      </p:sp>
      <p:sp>
        <p:nvSpPr>
          <p:cNvPr id="10" name="TextBox 9"/>
          <p:cNvSpPr txBox="1"/>
          <p:nvPr/>
        </p:nvSpPr>
        <p:spPr>
          <a:xfrm>
            <a:off x="6263640" y="2651760"/>
            <a:ext cx="5376672" cy="256032"/>
          </a:xfrm>
          <a:prstGeom prst="rect">
            <a:avLst/>
          </a:prstGeom>
          <a:noFill/>
        </p:spPr>
        <p:txBody>
          <a:bodyPr wrap="square" lIns="36576" rIns="36576" tIns="36576" bIns="36576" anchor="ctr">
            <a:spAutoFit/>
          </a:bodyPr>
          <a:lstStyle/>
          <a:p>
            <a:r>
              <a:rPr sz="1400" b="1">
                <a:solidFill>
                  <a:srgbClr val="18313F"/>
                </a:solidFill>
                <a:latin typeface="Arial"/>
              </a:rPr>
              <a:t>Rolling update: v1 and v2 seen; 0 failures</a:t>
            </a:r>
          </a:p>
        </p:txBody>
      </p:sp>
      <p:sp>
        <p:nvSpPr>
          <p:cNvPr id="11" name="Rectangle 10"/>
          <p:cNvSpPr/>
          <p:nvPr/>
        </p:nvSpPr>
        <p:spPr>
          <a:xfrm>
            <a:off x="548640" y="3172968"/>
            <a:ext cx="5376672" cy="1060704"/>
          </a:xfrm>
          <a:prstGeom prst="rect">
            <a:avLst/>
          </a:prstGeom>
          <a:solidFill>
            <a:srgbClr val="F6F8F9"/>
          </a:solidFill>
          <a:ln w="12700">
            <a:solidFill>
              <a:srgbClr val="60727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 y="3547872"/>
            <a:ext cx="5157216" cy="329184"/>
          </a:xfrm>
          <a:prstGeom prst="rect">
            <a:avLst/>
          </a:prstGeom>
          <a:noFill/>
        </p:spPr>
        <p:txBody>
          <a:bodyPr wrap="square" lIns="36576" rIns="36576" tIns="36576" bIns="36576" anchor="ctr">
            <a:spAutoFit/>
          </a:bodyPr>
          <a:lstStyle/>
          <a:p>
            <a:pPr algn="ctr"/>
            <a:r>
              <a:rPr sz="1200" b="1">
                <a:solidFill>
                  <a:srgbClr val="60727C"/>
                </a:solidFill>
                <a:latin typeface="Arial"/>
              </a:rPr>
              <a:t>SCREENSHOT PENDING: 07-bad-release-crash.png</a:t>
            </a:r>
          </a:p>
        </p:txBody>
      </p:sp>
      <p:sp>
        <p:nvSpPr>
          <p:cNvPr id="13" name="TextBox 12"/>
          <p:cNvSpPr txBox="1"/>
          <p:nvPr/>
        </p:nvSpPr>
        <p:spPr>
          <a:xfrm>
            <a:off x="548640" y="4251959"/>
            <a:ext cx="5376672" cy="256032"/>
          </a:xfrm>
          <a:prstGeom prst="rect">
            <a:avLst/>
          </a:prstGeom>
          <a:noFill/>
        </p:spPr>
        <p:txBody>
          <a:bodyPr wrap="square" lIns="36576" rIns="36576" tIns="36576" bIns="36576" anchor="ctr">
            <a:spAutoFit/>
          </a:bodyPr>
          <a:lstStyle/>
          <a:p>
            <a:r>
              <a:rPr sz="1400" b="1">
                <a:solidFill>
                  <a:srgbClr val="18313F"/>
                </a:solidFill>
                <a:latin typeface="Arial"/>
              </a:rPr>
              <a:t>CrashLoopBackOff observed, then rollback</a:t>
            </a:r>
          </a:p>
        </p:txBody>
      </p:sp>
      <p:sp>
        <p:nvSpPr>
          <p:cNvPr id="14" name="Rectangle 13"/>
          <p:cNvSpPr/>
          <p:nvPr/>
        </p:nvSpPr>
        <p:spPr>
          <a:xfrm>
            <a:off x="6263640" y="3172968"/>
            <a:ext cx="5376672" cy="1060704"/>
          </a:xfrm>
          <a:prstGeom prst="rect">
            <a:avLst/>
          </a:prstGeom>
          <a:solidFill>
            <a:srgbClr val="F6F8F9"/>
          </a:solidFill>
          <a:ln w="12700">
            <a:solidFill>
              <a:srgbClr val="60727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73368" y="3547872"/>
            <a:ext cx="5157216" cy="329184"/>
          </a:xfrm>
          <a:prstGeom prst="rect">
            <a:avLst/>
          </a:prstGeom>
          <a:noFill/>
        </p:spPr>
        <p:txBody>
          <a:bodyPr wrap="square" lIns="36576" rIns="36576" tIns="36576" bIns="36576" anchor="ctr">
            <a:spAutoFit/>
          </a:bodyPr>
          <a:lstStyle/>
          <a:p>
            <a:pPr algn="ctr"/>
            <a:r>
              <a:rPr sz="1200" b="1">
                <a:solidFill>
                  <a:srgbClr val="60727C"/>
                </a:solidFill>
                <a:latin typeface="Arial"/>
              </a:rPr>
              <a:t>SCREENSHOT PENDING: 23-ansible-idempotent-recap.png</a:t>
            </a:r>
          </a:p>
        </p:txBody>
      </p:sp>
      <p:sp>
        <p:nvSpPr>
          <p:cNvPr id="16" name="TextBox 15"/>
          <p:cNvSpPr txBox="1"/>
          <p:nvPr/>
        </p:nvSpPr>
        <p:spPr>
          <a:xfrm>
            <a:off x="6263640" y="4251959"/>
            <a:ext cx="5376672" cy="256032"/>
          </a:xfrm>
          <a:prstGeom prst="rect">
            <a:avLst/>
          </a:prstGeom>
          <a:noFill/>
        </p:spPr>
        <p:txBody>
          <a:bodyPr wrap="square" lIns="36576" rIns="36576" tIns="36576" bIns="36576" anchor="ctr">
            <a:spAutoFit/>
          </a:bodyPr>
          <a:lstStyle/>
          <a:p>
            <a:r>
              <a:rPr sz="1400" b="1">
                <a:solidFill>
                  <a:srgbClr val="18313F"/>
                </a:solidFill>
                <a:latin typeface="Arial"/>
              </a:rPr>
              <a:t>Ansible second apply: changed=0</a:t>
            </a:r>
          </a:p>
        </p:txBody>
      </p:sp>
      <p:sp>
        <p:nvSpPr>
          <p:cNvPr id="17" name="Rounded Rectangle 16"/>
          <p:cNvSpPr/>
          <p:nvPr/>
        </p:nvSpPr>
        <p:spPr>
          <a:xfrm>
            <a:off x="585216" y="5120640"/>
            <a:ext cx="11018520" cy="777240"/>
          </a:xfrm>
          <a:prstGeom prst="roundRect">
            <a:avLst/>
          </a:prstGeom>
          <a:solidFill>
            <a:srgbClr val="EAF3F3"/>
          </a:solidFill>
          <a:ln w="14604">
            <a:solidFill>
              <a:srgbClr val="1A8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500" b="1">
                <a:solidFill>
                  <a:srgbClr val="18313F"/>
                </a:solidFill>
                <a:latin typeface="Arial"/>
              </a:rPr>
              <a:t>Saved run: 8/9 PASS, 1 FAIL; focused abuse rerun PASS
Baseline 3,753 requests / 0 failures · Surge 2→3 replicas · full suite 55.7 min</a:t>
            </a:r>
          </a:p>
        </p:txBody>
      </p:sp>
      <p:sp>
        <p:nvSpPr>
          <p:cNvPr id="18" name="TextBox 17"/>
          <p:cNvSpPr txBox="1"/>
          <p:nvPr/>
        </p:nvSpPr>
        <p:spPr>
          <a:xfrm>
            <a:off x="640080" y="5998464"/>
            <a:ext cx="10972800" cy="256032"/>
          </a:xfrm>
          <a:prstGeom prst="rect">
            <a:avLst/>
          </a:prstGeom>
          <a:noFill/>
        </p:spPr>
        <p:txBody>
          <a:bodyPr wrap="square" lIns="36576" rIns="36576" tIns="36576" bIns="36576" anchor="ctr">
            <a:spAutoFit/>
          </a:bodyPr>
          <a:lstStyle/>
          <a:p>
            <a:pPr algn="ctr"/>
            <a:r>
              <a:rPr sz="1200" b="0">
                <a:solidFill>
                  <a:srgbClr val="60727C"/>
                </a:solidFill>
                <a:latin typeface="Arial"/>
              </a:rPr>
              <a:t>The full suite was not rerun after the focused abuse fix. Source: loadtest/reports/SUMMARY.md.</a:t>
            </a:r>
          </a:p>
        </p:txBody>
      </p:sp>
      <p:sp>
        <p:nvSpPr>
          <p:cNvPr id="19" name="TextBox 18"/>
          <p:cNvSpPr txBox="1"/>
          <p:nvPr/>
        </p:nvSpPr>
        <p:spPr>
          <a:xfrm>
            <a:off x="502920" y="6510528"/>
            <a:ext cx="9875520" cy="164592"/>
          </a:xfrm>
          <a:prstGeom prst="rect">
            <a:avLst/>
          </a:prstGeom>
          <a:noFill/>
        </p:spPr>
        <p:txBody>
          <a:bodyPr wrap="square" lIns="36576" rIns="36576" tIns="36576" bIns="36576" anchor="ctr">
            <a:spAutoFit/>
          </a:bodyPr>
          <a:lstStyle/>
          <a:p>
            <a:r>
              <a:rPr sz="900" b="0">
                <a:solidFill>
                  <a:srgbClr val="60727C"/>
                </a:solidFill>
                <a:latin typeface="Arial"/>
              </a:rPr>
              <a:t>Shortly DevOps · CA2 · &lt;Group members&gt;</a:t>
            </a:r>
          </a:p>
        </p:txBody>
      </p:sp>
      <p:sp>
        <p:nvSpPr>
          <p:cNvPr id="20" name="TextBox 19"/>
          <p:cNvSpPr txBox="1"/>
          <p:nvPr/>
        </p:nvSpPr>
        <p:spPr>
          <a:xfrm>
            <a:off x="11201400" y="6492240"/>
            <a:ext cx="411480" cy="182880"/>
          </a:xfrm>
          <a:prstGeom prst="rect">
            <a:avLst/>
          </a:prstGeom>
          <a:noFill/>
        </p:spPr>
        <p:txBody>
          <a:bodyPr wrap="square" lIns="36576" rIns="36576" tIns="36576" bIns="36576" anchor="ctr">
            <a:spAutoFit/>
          </a:bodyPr>
          <a:lstStyle/>
          <a:p>
            <a:pPr algn="r"/>
            <a:r>
              <a:rPr sz="1000" b="0">
                <a:solidFill>
                  <a:srgbClr val="60727C"/>
                </a:solidFill>
                <a:latin typeface="Aria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75488" y="256032"/>
            <a:ext cx="11155680" cy="512064"/>
          </a:xfrm>
          <a:prstGeom prst="rect">
            <a:avLst/>
          </a:prstGeom>
          <a:noFill/>
        </p:spPr>
        <p:txBody>
          <a:bodyPr wrap="square" lIns="36576" rIns="36576" tIns="36576" bIns="36576" anchor="ctr">
            <a:spAutoFit/>
          </a:bodyPr>
          <a:lstStyle/>
          <a:p>
            <a:r>
              <a:rPr sz="2900" b="1">
                <a:solidFill>
                  <a:srgbClr val="172B3A"/>
                </a:solidFill>
                <a:latin typeface="Arial"/>
              </a:rPr>
              <a:t>The hardest failures crossed component boundaries</a:t>
            </a:r>
          </a:p>
        </p:txBody>
      </p:sp>
      <p:sp>
        <p:nvSpPr>
          <p:cNvPr id="3" name="Rectangle 2"/>
          <p:cNvSpPr/>
          <p:nvPr/>
        </p:nvSpPr>
        <p:spPr>
          <a:xfrm>
            <a:off x="502920" y="896112"/>
            <a:ext cx="749808" cy="54864"/>
          </a:xfrm>
          <a:prstGeom prst="rect">
            <a:avLst/>
          </a:prstGeom>
          <a:solidFill>
            <a:srgbClr val="1A8C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93776" y="969264"/>
            <a:ext cx="11155680" cy="329184"/>
          </a:xfrm>
          <a:prstGeom prst="rect">
            <a:avLst/>
          </a:prstGeom>
          <a:noFill/>
        </p:spPr>
        <p:txBody>
          <a:bodyPr wrap="square" lIns="36576" rIns="36576" tIns="36576" bIns="36576" anchor="ctr">
            <a:spAutoFit/>
          </a:bodyPr>
          <a:lstStyle/>
          <a:p>
            <a:r>
              <a:rPr sz="1400" b="0">
                <a:solidFill>
                  <a:srgbClr val="60727C"/>
                </a:solidFill>
                <a:latin typeface="Arial"/>
              </a:rPr>
              <a:t>Top evidence-backed challenges · details and sources: docs/CHALLENGES.md</a:t>
            </a:r>
          </a:p>
        </p:txBody>
      </p:sp>
      <p:sp>
        <p:nvSpPr>
          <p:cNvPr id="5" name="Rounded Rectangle 4"/>
          <p:cNvSpPr/>
          <p:nvPr/>
        </p:nvSpPr>
        <p:spPr>
          <a:xfrm>
            <a:off x="594360" y="1508760"/>
            <a:ext cx="10972800" cy="640080"/>
          </a:xfrm>
          <a:prstGeom prst="roundRect">
            <a:avLst/>
          </a:prstGeom>
          <a:solidFill>
            <a:srgbClr val="EEF4F5"/>
          </a:solidFill>
          <a:ln w="14604">
            <a:solidFill>
              <a:srgbClr val="D2E2E5"/>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500" b="1">
                <a:solidFill>
                  <a:srgbClr val="18313F"/>
                </a:solidFill>
                <a:latin typeface="Arial"/>
              </a:rPr>
              <a:t>1  Ready probes missed release errors → health checks were too narrow → alert on 5xx and roll back</a:t>
            </a:r>
          </a:p>
        </p:txBody>
      </p:sp>
      <p:sp>
        <p:nvSpPr>
          <p:cNvPr id="6" name="Rounded Rectangle 5"/>
          <p:cNvSpPr/>
          <p:nvPr/>
        </p:nvSpPr>
        <p:spPr>
          <a:xfrm>
            <a:off x="594360" y="2340864"/>
            <a:ext cx="10972800" cy="640080"/>
          </a:xfrm>
          <a:prstGeom prst="roundRect">
            <a:avLst/>
          </a:prstGeom>
          <a:solidFill>
            <a:srgbClr val="FFFFFF"/>
          </a:solidFill>
          <a:ln w="14604">
            <a:solidFill>
              <a:srgbClr val="D2E2E5"/>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500" b="0">
                <a:solidFill>
                  <a:srgbClr val="18313F"/>
                </a:solidFill>
                <a:latin typeface="Arial"/>
              </a:rPr>
              <a:t>2  Nested Kustomize base was blocked → path restriction → render a temporary sibling overlay</a:t>
            </a:r>
          </a:p>
        </p:txBody>
      </p:sp>
      <p:sp>
        <p:nvSpPr>
          <p:cNvPr id="7" name="Rounded Rectangle 6"/>
          <p:cNvSpPr/>
          <p:nvPr/>
        </p:nvSpPr>
        <p:spPr>
          <a:xfrm>
            <a:off x="594360" y="3172968"/>
            <a:ext cx="10972800" cy="640080"/>
          </a:xfrm>
          <a:prstGeom prst="roundRect">
            <a:avLst/>
          </a:prstGeom>
          <a:solidFill>
            <a:srgbClr val="EEF4F5"/>
          </a:solidFill>
          <a:ln w="14604">
            <a:solidFill>
              <a:srgbClr val="D2E2E5"/>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500" b="0">
                <a:solidFill>
                  <a:srgbClr val="18313F"/>
                </a:solidFill>
                <a:latin typeface="Arial"/>
              </a:rPr>
              <a:t>3  Grafana OOM at 256/384 MiB → limits were too low → use the evidenced 512 MiB setting</a:t>
            </a:r>
          </a:p>
        </p:txBody>
      </p:sp>
      <p:sp>
        <p:nvSpPr>
          <p:cNvPr id="8" name="Rounded Rectangle 7"/>
          <p:cNvSpPr/>
          <p:nvPr/>
        </p:nvSpPr>
        <p:spPr>
          <a:xfrm>
            <a:off x="594360" y="4005072"/>
            <a:ext cx="10972800" cy="640080"/>
          </a:xfrm>
          <a:prstGeom prst="roundRect">
            <a:avLst/>
          </a:prstGeom>
          <a:solidFill>
            <a:srgbClr val="FFFFFF"/>
          </a:solidFill>
          <a:ln w="14604">
            <a:solidFill>
              <a:srgbClr val="D2E2E5"/>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500" b="0">
                <a:solidFill>
                  <a:srgbClr val="18313F"/>
                </a:solidFill>
                <a:latin typeface="Arial"/>
              </a:rPr>
              <a:t>4  Redis outage broke readiness → API depends on Redis → separate liveness and verify recovery</a:t>
            </a:r>
          </a:p>
        </p:txBody>
      </p:sp>
      <p:sp>
        <p:nvSpPr>
          <p:cNvPr id="9" name="Rounded Rectangle 8"/>
          <p:cNvSpPr/>
          <p:nvPr/>
        </p:nvSpPr>
        <p:spPr>
          <a:xfrm>
            <a:off x="594360" y="4837176"/>
            <a:ext cx="10972800" cy="640080"/>
          </a:xfrm>
          <a:prstGeom prst="roundRect">
            <a:avLst/>
          </a:prstGeom>
          <a:solidFill>
            <a:srgbClr val="EEF4F5"/>
          </a:solidFill>
          <a:ln w="14604">
            <a:solidFill>
              <a:srgbClr val="D2E2E5"/>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500" b="0">
                <a:solidFill>
                  <a:srgbClr val="18313F"/>
                </a:solidFill>
                <a:latin typeface="Arial"/>
              </a:rPr>
              <a:t>5  Ansible laptop was macOS → playbook supports Debian/Ubuntu → prove idempotence on Ubuntu 24.04</a:t>
            </a:r>
          </a:p>
        </p:txBody>
      </p:sp>
      <p:sp>
        <p:nvSpPr>
          <p:cNvPr id="10" name="TextBox 9"/>
          <p:cNvSpPr txBox="1"/>
          <p:nvPr/>
        </p:nvSpPr>
        <p:spPr>
          <a:xfrm>
            <a:off x="502920" y="6510528"/>
            <a:ext cx="9875520" cy="164592"/>
          </a:xfrm>
          <a:prstGeom prst="rect">
            <a:avLst/>
          </a:prstGeom>
          <a:noFill/>
        </p:spPr>
        <p:txBody>
          <a:bodyPr wrap="square" lIns="36576" rIns="36576" tIns="36576" bIns="36576" anchor="ctr">
            <a:spAutoFit/>
          </a:bodyPr>
          <a:lstStyle/>
          <a:p>
            <a:r>
              <a:rPr sz="900" b="0">
                <a:solidFill>
                  <a:srgbClr val="60727C"/>
                </a:solidFill>
                <a:latin typeface="Arial"/>
              </a:rPr>
              <a:t>Shortly DevOps · CA2 · &lt;Group members&gt;</a:t>
            </a:r>
          </a:p>
        </p:txBody>
      </p:sp>
      <p:sp>
        <p:nvSpPr>
          <p:cNvPr id="11" name="TextBox 10"/>
          <p:cNvSpPr txBox="1"/>
          <p:nvPr/>
        </p:nvSpPr>
        <p:spPr>
          <a:xfrm>
            <a:off x="11201400" y="6492240"/>
            <a:ext cx="411480" cy="182880"/>
          </a:xfrm>
          <a:prstGeom prst="rect">
            <a:avLst/>
          </a:prstGeom>
          <a:noFill/>
        </p:spPr>
        <p:txBody>
          <a:bodyPr wrap="square" lIns="36576" rIns="36576" tIns="36576" bIns="36576" anchor="ctr">
            <a:spAutoFit/>
          </a:bodyPr>
          <a:lstStyle/>
          <a:p>
            <a:pPr algn="r"/>
            <a:r>
              <a:rPr sz="1000" b="0">
                <a:solidFill>
                  <a:srgbClr val="60727C"/>
                </a:solidFill>
                <a:latin typeface="Aria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75488" y="256032"/>
            <a:ext cx="11155680" cy="512064"/>
          </a:xfrm>
          <a:prstGeom prst="rect">
            <a:avLst/>
          </a:prstGeom>
          <a:noFill/>
        </p:spPr>
        <p:txBody>
          <a:bodyPr wrap="square" lIns="36576" rIns="36576" tIns="36576" bIns="36576" anchor="ctr">
            <a:spAutoFit/>
          </a:bodyPr>
          <a:lstStyle/>
          <a:p>
            <a:r>
              <a:rPr sz="2900" b="1">
                <a:solidFill>
                  <a:srgbClr val="172B3A"/>
                </a:solidFill>
                <a:latin typeface="Arial"/>
              </a:rPr>
              <a:t>We learned to verify behavior, not only health</a:t>
            </a:r>
          </a:p>
        </p:txBody>
      </p:sp>
      <p:sp>
        <p:nvSpPr>
          <p:cNvPr id="3" name="Rectangle 2"/>
          <p:cNvSpPr/>
          <p:nvPr/>
        </p:nvSpPr>
        <p:spPr>
          <a:xfrm>
            <a:off x="502920" y="896112"/>
            <a:ext cx="749808" cy="54864"/>
          </a:xfrm>
          <a:prstGeom prst="rect">
            <a:avLst/>
          </a:prstGeom>
          <a:solidFill>
            <a:srgbClr val="1A8C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93776" y="969264"/>
            <a:ext cx="11155680" cy="329184"/>
          </a:xfrm>
          <a:prstGeom prst="rect">
            <a:avLst/>
          </a:prstGeom>
          <a:noFill/>
        </p:spPr>
        <p:txBody>
          <a:bodyPr wrap="square" lIns="36576" rIns="36576" tIns="36576" bIns="36576" anchor="ctr">
            <a:spAutoFit/>
          </a:bodyPr>
          <a:lstStyle/>
          <a:p>
            <a:r>
              <a:rPr sz="1400" b="0">
                <a:solidFill>
                  <a:srgbClr val="60727C"/>
                </a:solidFill>
                <a:latin typeface="Arial"/>
              </a:rPr>
              <a:t>Each lesson links to the challenge log; production work is future work.</a:t>
            </a:r>
          </a:p>
        </p:txBody>
      </p:sp>
      <p:sp>
        <p:nvSpPr>
          <p:cNvPr id="5" name="TextBox 4"/>
          <p:cNvSpPr txBox="1"/>
          <p:nvPr/>
        </p:nvSpPr>
        <p:spPr>
          <a:xfrm>
            <a:off x="685800" y="1554480"/>
            <a:ext cx="10881360" cy="384048"/>
          </a:xfrm>
          <a:prstGeom prst="rect">
            <a:avLst/>
          </a:prstGeom>
          <a:noFill/>
        </p:spPr>
        <p:txBody>
          <a:bodyPr wrap="square" lIns="36576" rIns="36576" tIns="36576" bIns="36576" anchor="ctr">
            <a:spAutoFit/>
          </a:bodyPr>
          <a:lstStyle/>
          <a:p>
            <a:r>
              <a:rPr sz="1600" b="1">
                <a:solidFill>
                  <a:srgbClr val="18313F"/>
                </a:solidFill>
                <a:latin typeface="Arial"/>
              </a:rPr>
              <a:t>#1  Readiness and user success are different signals; alert on real request outcomes.</a:t>
            </a:r>
          </a:p>
        </p:txBody>
      </p:sp>
      <p:sp>
        <p:nvSpPr>
          <p:cNvPr id="6" name="TextBox 5"/>
          <p:cNvSpPr txBox="1"/>
          <p:nvPr/>
        </p:nvSpPr>
        <p:spPr>
          <a:xfrm>
            <a:off x="685800" y="2194560"/>
            <a:ext cx="10881360" cy="384048"/>
          </a:xfrm>
          <a:prstGeom prst="rect">
            <a:avLst/>
          </a:prstGeom>
          <a:noFill/>
        </p:spPr>
        <p:txBody>
          <a:bodyPr wrap="square" lIns="36576" rIns="36576" tIns="36576" bIns="36576" anchor="ctr">
            <a:spAutoFit/>
          </a:bodyPr>
          <a:lstStyle/>
          <a:p>
            <a:r>
              <a:rPr sz="1600" b="0">
                <a:solidFill>
                  <a:srgbClr val="18313F"/>
                </a:solidFill>
                <a:latin typeface="Arial"/>
              </a:rPr>
              <a:t>#2  Render the exact manifest set before applying; layout affects deploy tooling.</a:t>
            </a:r>
          </a:p>
        </p:txBody>
      </p:sp>
      <p:sp>
        <p:nvSpPr>
          <p:cNvPr id="7" name="TextBox 6"/>
          <p:cNvSpPr txBox="1"/>
          <p:nvPr/>
        </p:nvSpPr>
        <p:spPr>
          <a:xfrm>
            <a:off x="685800" y="2834639"/>
            <a:ext cx="10881360" cy="384048"/>
          </a:xfrm>
          <a:prstGeom prst="rect">
            <a:avLst/>
          </a:prstGeom>
          <a:noFill/>
        </p:spPr>
        <p:txBody>
          <a:bodyPr wrap="square" lIns="36576" rIns="36576" tIns="36576" bIns="36576" anchor="ctr">
            <a:spAutoFit/>
          </a:bodyPr>
          <a:lstStyle/>
          <a:p>
            <a:r>
              <a:rPr sz="1600" b="0">
                <a:solidFill>
                  <a:srgbClr val="18313F"/>
                </a:solidFill>
                <a:latin typeface="Arial"/>
              </a:rPr>
              <a:t>#3  Resource limits need observed headroom; lower Grafana limits restarted the pod.</a:t>
            </a:r>
          </a:p>
        </p:txBody>
      </p:sp>
      <p:sp>
        <p:nvSpPr>
          <p:cNvPr id="8" name="TextBox 7"/>
          <p:cNvSpPr txBox="1"/>
          <p:nvPr/>
        </p:nvSpPr>
        <p:spPr>
          <a:xfrm>
            <a:off x="685800" y="3474720"/>
            <a:ext cx="10881360" cy="384048"/>
          </a:xfrm>
          <a:prstGeom prst="rect">
            <a:avLst/>
          </a:prstGeom>
          <a:noFill/>
        </p:spPr>
        <p:txBody>
          <a:bodyPr wrap="square" lIns="36576" rIns="36576" tIns="36576" bIns="36576" anchor="ctr">
            <a:spAutoFit/>
          </a:bodyPr>
          <a:lstStyle/>
          <a:p>
            <a:r>
              <a:rPr sz="1600" b="0">
                <a:solidFill>
                  <a:srgbClr val="18313F"/>
                </a:solidFill>
                <a:latin typeface="Arial"/>
              </a:rPr>
              <a:t>#4  Dependency-aware readiness protects traffic without restarting the API process.</a:t>
            </a:r>
          </a:p>
        </p:txBody>
      </p:sp>
      <p:sp>
        <p:nvSpPr>
          <p:cNvPr id="9" name="TextBox 8"/>
          <p:cNvSpPr txBox="1"/>
          <p:nvPr/>
        </p:nvSpPr>
        <p:spPr>
          <a:xfrm>
            <a:off x="685800" y="4114800"/>
            <a:ext cx="10881360" cy="384048"/>
          </a:xfrm>
          <a:prstGeom prst="rect">
            <a:avLst/>
          </a:prstGeom>
          <a:noFill/>
        </p:spPr>
        <p:txBody>
          <a:bodyPr wrap="square" lIns="36576" rIns="36576" tIns="36576" bIns="36576" anchor="ctr">
            <a:spAutoFit/>
          </a:bodyPr>
          <a:lstStyle/>
          <a:p>
            <a:r>
              <a:rPr sz="1600" b="0">
                <a:solidFill>
                  <a:srgbClr val="18313F"/>
                </a:solidFill>
                <a:latin typeface="Arial"/>
              </a:rPr>
              <a:t>#5  Idempotence needs a supported target; keep the macOS refusal distinct.</a:t>
            </a:r>
          </a:p>
        </p:txBody>
      </p:sp>
      <p:sp>
        <p:nvSpPr>
          <p:cNvPr id="10" name="Rounded Rectangle 9"/>
          <p:cNvSpPr/>
          <p:nvPr/>
        </p:nvSpPr>
        <p:spPr>
          <a:xfrm>
            <a:off x="640080" y="5010912"/>
            <a:ext cx="10972800" cy="804672"/>
          </a:xfrm>
          <a:prstGeom prst="roundRect">
            <a:avLst/>
          </a:prstGeom>
          <a:solidFill>
            <a:srgbClr val="EAF3F3"/>
          </a:solidFill>
          <a:ln w="14604">
            <a:solidFill>
              <a:srgbClr val="1A8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500" b="1">
                <a:solidFill>
                  <a:srgbClr val="18313F"/>
                </a:solidFill>
                <a:latin typeface="Arial"/>
              </a:rPr>
              <a:t>Next: use a multi-node cloud cluster; add SLO alerts, real alert routing and GitOps; isolate the self-hosted runner.</a:t>
            </a:r>
          </a:p>
        </p:txBody>
      </p:sp>
      <p:sp>
        <p:nvSpPr>
          <p:cNvPr id="11" name="TextBox 10"/>
          <p:cNvSpPr txBox="1"/>
          <p:nvPr/>
        </p:nvSpPr>
        <p:spPr>
          <a:xfrm>
            <a:off x="502920" y="6510528"/>
            <a:ext cx="9875520" cy="164592"/>
          </a:xfrm>
          <a:prstGeom prst="rect">
            <a:avLst/>
          </a:prstGeom>
          <a:noFill/>
        </p:spPr>
        <p:txBody>
          <a:bodyPr wrap="square" lIns="36576" rIns="36576" tIns="36576" bIns="36576" anchor="ctr">
            <a:spAutoFit/>
          </a:bodyPr>
          <a:lstStyle/>
          <a:p>
            <a:r>
              <a:rPr sz="900" b="0">
                <a:solidFill>
                  <a:srgbClr val="60727C"/>
                </a:solidFill>
                <a:latin typeface="Arial"/>
              </a:rPr>
              <a:t>Shortly DevOps · CA2 · &lt;Group members&gt;</a:t>
            </a:r>
          </a:p>
        </p:txBody>
      </p:sp>
      <p:sp>
        <p:nvSpPr>
          <p:cNvPr id="12" name="TextBox 11"/>
          <p:cNvSpPr txBox="1"/>
          <p:nvPr/>
        </p:nvSpPr>
        <p:spPr>
          <a:xfrm>
            <a:off x="11201400" y="6492240"/>
            <a:ext cx="411480" cy="182880"/>
          </a:xfrm>
          <a:prstGeom prst="rect">
            <a:avLst/>
          </a:prstGeom>
          <a:noFill/>
        </p:spPr>
        <p:txBody>
          <a:bodyPr wrap="square" lIns="36576" rIns="36576" tIns="36576" bIns="36576" anchor="ctr">
            <a:spAutoFit/>
          </a:bodyPr>
          <a:lstStyle/>
          <a:p>
            <a:pPr algn="r"/>
            <a:r>
              <a:rPr sz="1000" b="0">
                <a:solidFill>
                  <a:srgbClr val="60727C"/>
                </a:solidFill>
                <a:latin typeface="Arial"/>
              </a:rPr>
              <a:t>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Shortly DevOps — CA2 report</dc:title>
  <dc:subject>Architecture, pipeline, challenges and lessons learned</dc:subject>
  <dc:creator>&lt;Group members&gt;</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